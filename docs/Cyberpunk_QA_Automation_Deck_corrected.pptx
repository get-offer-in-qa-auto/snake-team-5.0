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23bbb250e4c2e" /><Relationship Type="http://schemas.openxmlformats.org/officeDocument/2006/relationships/extended-properties" Target="/docProps/app.xml" Id="Ra05d4abc61914fb8" /><Relationship Type="http://schemas.openxmlformats.org/officeDocument/2006/relationships/officeDocument" Target="/ppt/presentation.xml" Id="Radcc19e1b61544b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b075a0b7bba420a"/>
  </p:sldMasterIdLst>
  <p:notesMasterIdLst>
    <p:notesMasterId xmlns:r="http://schemas.openxmlformats.org/officeDocument/2006/relationships" r:id="R139d2fbd49124a2b"/>
  </p:notesMasterIdLst>
  <p:sldIdLst>
    <p:sldId xmlns:r="http://schemas.openxmlformats.org/officeDocument/2006/relationships" id="256" r:id="Ra9123063882a4a1c"/>
    <p:sldId xmlns:r="http://schemas.openxmlformats.org/officeDocument/2006/relationships" id="257" r:id="Ra829f75791dc4605"/>
    <p:sldId xmlns:r="http://schemas.openxmlformats.org/officeDocument/2006/relationships" id="258" r:id="Rbaa3fc0e97c34161"/>
    <p:sldId xmlns:r="http://schemas.openxmlformats.org/officeDocument/2006/relationships" id="259" r:id="Re8412389b5744ac0"/>
    <p:sldId xmlns:r="http://schemas.openxmlformats.org/officeDocument/2006/relationships" id="260" r:id="R57aceec55f5449d8"/>
    <p:sldId xmlns:r="http://schemas.openxmlformats.org/officeDocument/2006/relationships" id="261" r:id="R17213f1b00074b58"/>
    <p:sldId xmlns:r="http://schemas.openxmlformats.org/officeDocument/2006/relationships" id="262" r:id="R2807fe8a1a914b62"/>
    <p:sldId xmlns:r="http://schemas.openxmlformats.org/officeDocument/2006/relationships" id="263" r:id="Rc35d7dca21604f6d"/>
    <p:sldId xmlns:r="http://schemas.openxmlformats.org/officeDocument/2006/relationships" id="264" r:id="R7ba7daf838974d82"/>
    <p:sldId xmlns:r="http://schemas.openxmlformats.org/officeDocument/2006/relationships" id="265" r:id="Rce6abed8fad04623"/>
    <p:sldId xmlns:r="http://schemas.openxmlformats.org/officeDocument/2006/relationships" id="266" r:id="R11938956782149db"/>
    <p:sldId xmlns:r="http://schemas.openxmlformats.org/officeDocument/2006/relationships" id="267" r:id="Ra84dca4b5c054523"/>
    <p:sldId xmlns:r="http://schemas.openxmlformats.org/officeDocument/2006/relationships" id="268" r:id="R7de573a132354e80"/>
    <p:sldId xmlns:r="http://schemas.openxmlformats.org/officeDocument/2006/relationships" id="269" r:id="R20723bcbc78d42f8"/>
    <p:sldId xmlns:r="http://schemas.openxmlformats.org/officeDocument/2006/relationships" id="270" r:id="Rbe304e479c5e4654"/>
    <p:sldId xmlns:r="http://schemas.openxmlformats.org/officeDocument/2006/relationships" id="271" r:id="R88d11e9ed1a741e4"/>
    <p:sldId xmlns:r="http://schemas.openxmlformats.org/officeDocument/2006/relationships" id="272" r:id="R925aa001a6004c47"/>
    <p:sldId xmlns:r="http://schemas.openxmlformats.org/officeDocument/2006/relationships" id="273" r:id="R572d39cdd7394849"/>
    <p:sldId xmlns:r="http://schemas.openxmlformats.org/officeDocument/2006/relationships" id="274" r:id="R9de0604a1a484a2c"/>
    <p:sldId xmlns:r="http://schemas.openxmlformats.org/officeDocument/2006/relationships" id="275" r:id="Rc320ab1282a64402"/>
    <p:sldId xmlns:r="http://schemas.openxmlformats.org/officeDocument/2006/relationships" id="276" r:id="Rc73de295f54e41cf"/>
    <p:sldId xmlns:r="http://schemas.openxmlformats.org/officeDocument/2006/relationships" id="277" r:id="R72e850ddaf524b7f"/>
    <p:sldId xmlns:r="http://schemas.openxmlformats.org/officeDocument/2006/relationships" id="278" r:id="Rbbea5ea6cd73433b"/>
    <p:sldId xmlns:r="http://schemas.openxmlformats.org/officeDocument/2006/relationships" id="279" r:id="R6856536bd95147b9"/>
    <p:sldId xmlns:r="http://schemas.openxmlformats.org/officeDocument/2006/relationships" id="280" r:id="R3b88343097a54f79"/>
    <p:sldId xmlns:r="http://schemas.openxmlformats.org/officeDocument/2006/relationships" id="281" r:id="R71003e1bc0b74e0c"/>
    <p:sldId xmlns:r="http://schemas.openxmlformats.org/officeDocument/2006/relationships" id="282" r:id="Re7c561c320264f28"/>
    <p:sldId xmlns:r="http://schemas.openxmlformats.org/officeDocument/2006/relationships" id="283" r:id="R39c01c953d734078"/>
    <p:sldId xmlns:r="http://schemas.openxmlformats.org/officeDocument/2006/relationships" id="284" r:id="Rb8c8ef2168d24cea"/>
    <p:sldId xmlns:r="http://schemas.openxmlformats.org/officeDocument/2006/relationships" id="285" r:id="R32b0768a313044dc"/>
    <p:sldId xmlns:r="http://schemas.openxmlformats.org/officeDocument/2006/relationships" id="286" r:id="Rf63f0625d0bf4760"/>
    <p:sldId xmlns:r="http://schemas.openxmlformats.org/officeDocument/2006/relationships" id="287" r:id="Rc69eb6dc292a4c31"/>
    <p:sldId xmlns:r="http://schemas.openxmlformats.org/officeDocument/2006/relationships" id="288" r:id="R23c5c8cea5f242d0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2290ee1538f34256"/>
    </p:embeddedFont>
    <p:embeddedFont>
      <p:font typeface="Inter"/>
      <p:regular xmlns:r="http://schemas.openxmlformats.org/officeDocument/2006/relationships" r:id="Rf2893bcb87fd420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6a1b852024bef" /><Relationship Type="http://schemas.openxmlformats.org/officeDocument/2006/relationships/slideMaster" Target="/ppt/slideMasters/slideMaster1.xml" Id="R0b075a0b7bba420a" /><Relationship Type="http://schemas.openxmlformats.org/officeDocument/2006/relationships/notesMaster" Target="/ppt/notesMasters/notesMaster1.xml" Id="R139d2fbd49124a2b" /><Relationship Type="http://schemas.openxmlformats.org/officeDocument/2006/relationships/presProps" Target="/ppt/presProps.xml" Id="R526d9363d41d4c28" /><Relationship Type="http://schemas.openxmlformats.org/officeDocument/2006/relationships/viewProps" Target="/ppt/viewProps.xml" Id="R7ef028ff0dbb4c84" /><Relationship Type="http://schemas.openxmlformats.org/officeDocument/2006/relationships/tableStyles" Target="/ppt/tableStyles.xml" Id="R4a17be179d0b4151" /><Relationship Type="http://schemas.openxmlformats.org/officeDocument/2006/relationships/font" Target="/ppt/fonts/font.dat" Id="R2290ee1538f34256" /><Relationship Type="http://schemas.openxmlformats.org/officeDocument/2006/relationships/font" Target="/ppt/fonts/font2.dat" Id="Rf2893bcb87fd4206" /><Relationship Type="http://schemas.openxmlformats.org/officeDocument/2006/relationships/slide" Target="/ppt/slides/slide1.xml" Id="Ra9123063882a4a1c" /><Relationship Type="http://schemas.openxmlformats.org/officeDocument/2006/relationships/slide" Target="/ppt/slides/slide2.xml" Id="Ra829f75791dc4605" /><Relationship Type="http://schemas.openxmlformats.org/officeDocument/2006/relationships/slide" Target="/ppt/slides/slide3.xml" Id="Rbaa3fc0e97c34161" /><Relationship Type="http://schemas.openxmlformats.org/officeDocument/2006/relationships/slide" Target="/ppt/slides/slide4.xml" Id="Re8412389b5744ac0" /><Relationship Type="http://schemas.openxmlformats.org/officeDocument/2006/relationships/slide" Target="/ppt/slides/slide5.xml" Id="R57aceec55f5449d8" /><Relationship Type="http://schemas.openxmlformats.org/officeDocument/2006/relationships/slide" Target="/ppt/slides/slide6.xml" Id="R17213f1b00074b58" /><Relationship Type="http://schemas.openxmlformats.org/officeDocument/2006/relationships/slide" Target="/ppt/slides/slide7.xml" Id="R2807fe8a1a914b62" /><Relationship Type="http://schemas.openxmlformats.org/officeDocument/2006/relationships/slide" Target="/ppt/slides/slide8.xml" Id="Rc35d7dca21604f6d" /><Relationship Type="http://schemas.openxmlformats.org/officeDocument/2006/relationships/slide" Target="/ppt/slides/slide9.xml" Id="R7ba7daf838974d82" /><Relationship Type="http://schemas.openxmlformats.org/officeDocument/2006/relationships/slide" Target="/ppt/slides/slide10.xml" Id="Rce6abed8fad04623" /><Relationship Type="http://schemas.openxmlformats.org/officeDocument/2006/relationships/slide" Target="/ppt/slides/slide11.xml" Id="R11938956782149db" /><Relationship Type="http://schemas.openxmlformats.org/officeDocument/2006/relationships/slide" Target="/ppt/slides/slide12.xml" Id="Ra84dca4b5c054523" /><Relationship Type="http://schemas.openxmlformats.org/officeDocument/2006/relationships/slide" Target="/ppt/slides/slide13.xml" Id="R7de573a132354e80" /><Relationship Type="http://schemas.openxmlformats.org/officeDocument/2006/relationships/slide" Target="/ppt/slides/slide14.xml" Id="R20723bcbc78d42f8" /><Relationship Type="http://schemas.openxmlformats.org/officeDocument/2006/relationships/slide" Target="/ppt/slides/slide15.xml" Id="Rbe304e479c5e4654" /><Relationship Type="http://schemas.openxmlformats.org/officeDocument/2006/relationships/slide" Target="/ppt/slides/slide16.xml" Id="R88d11e9ed1a741e4" /><Relationship Type="http://schemas.openxmlformats.org/officeDocument/2006/relationships/slide" Target="/ppt/slides/slide17.xml" Id="R925aa001a6004c47" /><Relationship Type="http://schemas.openxmlformats.org/officeDocument/2006/relationships/slide" Target="/ppt/slides/slide18.xml" Id="R572d39cdd7394849" /><Relationship Type="http://schemas.openxmlformats.org/officeDocument/2006/relationships/slide" Target="/ppt/slides/slide19.xml" Id="R9de0604a1a484a2c" /><Relationship Type="http://schemas.openxmlformats.org/officeDocument/2006/relationships/slide" Target="/ppt/slides/slide20.xml" Id="Rc320ab1282a64402" /><Relationship Type="http://schemas.openxmlformats.org/officeDocument/2006/relationships/slide" Target="/ppt/slides/slide21.xml" Id="Rc73de295f54e41cf" /><Relationship Type="http://schemas.openxmlformats.org/officeDocument/2006/relationships/slide" Target="/ppt/slides/slide22.xml" Id="R72e850ddaf524b7f" /><Relationship Type="http://schemas.openxmlformats.org/officeDocument/2006/relationships/slide" Target="/ppt/slides/slide23.xml" Id="Rbbea5ea6cd73433b" /><Relationship Type="http://schemas.openxmlformats.org/officeDocument/2006/relationships/slide" Target="/ppt/slides/slide24.xml" Id="R6856536bd95147b9" /><Relationship Type="http://schemas.openxmlformats.org/officeDocument/2006/relationships/slide" Target="/ppt/slides/slide25.xml" Id="R3b88343097a54f79" /><Relationship Type="http://schemas.openxmlformats.org/officeDocument/2006/relationships/slide" Target="/ppt/slides/slide26.xml" Id="R71003e1bc0b74e0c" /><Relationship Type="http://schemas.openxmlformats.org/officeDocument/2006/relationships/slide" Target="/ppt/slides/slide27.xml" Id="Re7c561c320264f28" /><Relationship Type="http://schemas.openxmlformats.org/officeDocument/2006/relationships/slide" Target="/ppt/slides/slide28.xml" Id="R39c01c953d734078" /><Relationship Type="http://schemas.openxmlformats.org/officeDocument/2006/relationships/slide" Target="/ppt/slides/slide29.xml" Id="Rb8c8ef2168d24cea" /><Relationship Type="http://schemas.openxmlformats.org/officeDocument/2006/relationships/slide" Target="/ppt/slides/slide30.xml" Id="R32b0768a313044dc" /><Relationship Type="http://schemas.openxmlformats.org/officeDocument/2006/relationships/slide" Target="/ppt/slides/slide31.xml" Id="Rf63f0625d0bf4760" /><Relationship Type="http://schemas.openxmlformats.org/officeDocument/2006/relationships/slide" Target="/ppt/slides/slide32.xml" Id="Rc69eb6dc292a4c31" /><Relationship Type="http://schemas.openxmlformats.org/officeDocument/2006/relationships/slide" Target="/ppt/slides/slide33.xml" Id="R23c5c8cea5f2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457b107c21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3bf255a8d4d59" /><Relationship Type="http://schemas.openxmlformats.org/officeDocument/2006/relationships/notesMaster" Target="/ppt/notesMasters/notesMaster1.xml" Id="R5ae283c4fb0d42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239adc8dc94a33" /><Relationship Type="http://schemas.openxmlformats.org/officeDocument/2006/relationships/notesMaster" Target="/ppt/notesMasters/notesMaster1.xml" Id="Rfff42b1d3d5849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2ad03793184511" /><Relationship Type="http://schemas.openxmlformats.org/officeDocument/2006/relationships/notesMaster" Target="/ppt/notesMasters/notesMaster1.xml" Id="Rbb1ee955244248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2198a037048c7" /><Relationship Type="http://schemas.openxmlformats.org/officeDocument/2006/relationships/notesMaster" Target="/ppt/notesMasters/notesMaster1.xml" Id="R07f79aff84f3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91185e96db47c8" /><Relationship Type="http://schemas.openxmlformats.org/officeDocument/2006/relationships/notesMaster" Target="/ppt/notesMasters/notesMaster1.xml" Id="Rbcdc720c0321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7e1a06c0e041b3" /><Relationship Type="http://schemas.openxmlformats.org/officeDocument/2006/relationships/notesMaster" Target="/ppt/notesMasters/notesMaster1.xml" Id="R5bcb877b5c65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cf2418e4564693" /><Relationship Type="http://schemas.openxmlformats.org/officeDocument/2006/relationships/notesMaster" Target="/ppt/notesMasters/notesMaster1.xml" Id="Ra1cb238769fc47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b95b021a8e4208" /><Relationship Type="http://schemas.openxmlformats.org/officeDocument/2006/relationships/notesMaster" Target="/ppt/notesMasters/notesMaster1.xml" Id="Rdd85a676639e4f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6fd49e6c04483e" /><Relationship Type="http://schemas.openxmlformats.org/officeDocument/2006/relationships/notesMaster" Target="/ppt/notesMasters/notesMaster1.xml" Id="Rd931bc747e924d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da0d629a5f48f3" /><Relationship Type="http://schemas.openxmlformats.org/officeDocument/2006/relationships/notesMaster" Target="/ppt/notesMasters/notesMaster1.xml" Id="R3c30b3776a81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0880a7b2b4499a" /><Relationship Type="http://schemas.openxmlformats.org/officeDocument/2006/relationships/notesMaster" Target="/ppt/notesMasters/notesMaster1.xml" Id="R5fefd59006134b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808bb786ad435a" /><Relationship Type="http://schemas.openxmlformats.org/officeDocument/2006/relationships/notesMaster" Target="/ppt/notesMasters/notesMaster1.xml" Id="R45a453c3663a4c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b9a053c8b74b7e" /><Relationship Type="http://schemas.openxmlformats.org/officeDocument/2006/relationships/notesMaster" Target="/ppt/notesMasters/notesMaster1.xml" Id="R56a5c0fa4aba47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4a7e73cf134915" /><Relationship Type="http://schemas.openxmlformats.org/officeDocument/2006/relationships/notesMaster" Target="/ppt/notesMasters/notesMaster1.xml" Id="R0050e148441543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1679731a134db9" /><Relationship Type="http://schemas.openxmlformats.org/officeDocument/2006/relationships/notesMaster" Target="/ppt/notesMasters/notesMaster1.xml" Id="R1d6a3e337e034a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5990fc1d1141c4" /><Relationship Type="http://schemas.openxmlformats.org/officeDocument/2006/relationships/notesMaster" Target="/ppt/notesMasters/notesMaster1.xml" Id="Re69b573987dd41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e81440e273424a" /><Relationship Type="http://schemas.openxmlformats.org/officeDocument/2006/relationships/notesMaster" Target="/ppt/notesMasters/notesMaster1.xml" Id="R2973c57c263e4c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356c0f43214360" /><Relationship Type="http://schemas.openxmlformats.org/officeDocument/2006/relationships/notesMaster" Target="/ppt/notesMasters/notesMaster1.xml" Id="R961c24835b8645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6ff4b6fa1f4992" /><Relationship Type="http://schemas.openxmlformats.org/officeDocument/2006/relationships/notesMaster" Target="/ppt/notesMasters/notesMaster1.xml" Id="R2befce53e7e741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a287b497de4564" /><Relationship Type="http://schemas.openxmlformats.org/officeDocument/2006/relationships/notesMaster" Target="/ppt/notesMasters/notesMaster1.xml" Id="R2bcfbffb238242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fe4f452f694ecf" /><Relationship Type="http://schemas.openxmlformats.org/officeDocument/2006/relationships/notesMaster" Target="/ppt/notesMasters/notesMaster1.xml" Id="Rf962a07b6bf04c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8206a3f9b2468a" /><Relationship Type="http://schemas.openxmlformats.org/officeDocument/2006/relationships/notesMaster" Target="/ppt/notesMasters/notesMaster1.xml" Id="Rb2f693fa1ac945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b7fec8603944af" /><Relationship Type="http://schemas.openxmlformats.org/officeDocument/2006/relationships/notesMaster" Target="/ppt/notesMasters/notesMaster1.xml" Id="Ra0696434408b44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779378a87b4c09" /><Relationship Type="http://schemas.openxmlformats.org/officeDocument/2006/relationships/notesMaster" Target="/ppt/notesMasters/notesMaster1.xml" Id="R7bca1d9ce6c64f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6fc6f0e91c47d7" /><Relationship Type="http://schemas.openxmlformats.org/officeDocument/2006/relationships/notesMaster" Target="/ppt/notesMasters/notesMaster1.xml" Id="Rcd6b25fb9cae4ac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427260146d4950" /><Relationship Type="http://schemas.openxmlformats.org/officeDocument/2006/relationships/notesMaster" Target="/ppt/notesMasters/notesMaster1.xml" Id="Rd391d315dd4e4a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f925bc7223e4920" /><Relationship Type="http://schemas.openxmlformats.org/officeDocument/2006/relationships/notesMaster" Target="/ppt/notesMasters/notesMaster1.xml" Id="R44ef013d3a894c8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96ef9b04afd4e9f" /><Relationship Type="http://schemas.openxmlformats.org/officeDocument/2006/relationships/notesMaster" Target="/ppt/notesMasters/notesMaster1.xml" Id="Rb43e6564848c4b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b3f6da0c6164606" /><Relationship Type="http://schemas.openxmlformats.org/officeDocument/2006/relationships/notesMaster" Target="/ppt/notesMasters/notesMaster1.xml" Id="Ra90d75a62aad42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0d9a374d4974ac2" /><Relationship Type="http://schemas.openxmlformats.org/officeDocument/2006/relationships/notesMaster" Target="/ppt/notesMasters/notesMaster1.xml" Id="Ref6196fa2f7f490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aaa15859c32418b" /><Relationship Type="http://schemas.openxmlformats.org/officeDocument/2006/relationships/notesMaster" Target="/ppt/notesMasters/notesMaster1.xml" Id="R9a955bd7a2f74b4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efd0f49cca44ecc" /><Relationship Type="http://schemas.openxmlformats.org/officeDocument/2006/relationships/notesMaster" Target="/ppt/notesMasters/notesMaster1.xml" Id="R8edb163cb8794c1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6e9717078d4364" /><Relationship Type="http://schemas.openxmlformats.org/officeDocument/2006/relationships/notesMaster" Target="/ppt/notesMasters/notesMaster1.xml" Id="Rc2820f5b0af848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35109f70f41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8b762a8174b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f2b3888484e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63506e73f49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cad7cb7aa4e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d1a3f0ed24e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e0e75569842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cc9f84d204a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87f1bf4f24c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8dc178b274d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215c207ed42f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E90404-2763-4B19-86E3-8240F3A7B82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AD152A5-79D9-4BCE-B728-35ABF31D2F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A09686-DDCB-404B-B316-6882287853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E615CB-5E89-494D-A924-455A5EB821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5F1C6C-B6EE-468F-B55C-21B42BA596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734447-AD21-4EDE-8FE7-A41E38433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595130-BF31-4076-96C9-019AE4E789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EFC9E7-2F60-42B4-BDDF-0AC0F5BB28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BC114-218E-4207-B419-661A2334B4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0D39E6-E15A-48CF-A4D9-58737987A0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F58B3D-0826-474C-B286-9DEDF125B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A2371-1DFD-4A0E-8E3E-8C6380F9C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EEE3D8-BA87-4970-89BD-7A8C1B1B44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DFC04C-9718-42F8-827A-D24188005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F9D6DD-40AA-463C-93EF-6E3239DF7C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9632E-9299-424C-B0D7-99270515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0F3A42-38E9-4CB9-8B50-0A52C07670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77817E8-8989-4294-849C-B030761D15B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25CB53-CC01-478A-9BC5-9DC4ABDB12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CE1CCA-A2DF-4791-B8F3-7B6B4A34F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A8276E-0478-4887-BA15-20EF6ECFF1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1F1AE8-D4DE-4B24-8B3E-4D163E0C7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5BA18D-A71C-4391-A59C-BA15A858D6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6AD231F-78E1-4B86-B656-BF0022B1DC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6A56DD-1720-4C41-840B-E2886C48360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81C8339-836C-468D-9A56-7316971F533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7C3A16D-13C6-4360-ABC6-39BA025F67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DECFAA6-B227-4F81-9488-010323AC10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E2396D8-1EA4-4EE0-9C23-7A14787143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D6822D-84BC-4A20-9DC5-FA1ADD242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4934B26-FC0A-405E-AF56-830EAC2C0D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FA051F6-B7C4-45FB-8271-4EE45BB18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BDF11B-C26C-404B-9DFB-9A28FA7823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290C4EC-ED0A-4C7E-A9AA-D558E2F311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5A45710-029D-45C9-BCC6-5F777A6180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601A1DD-2601-48F8-AAA0-18C1405B7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69848A-B202-4EEB-87D2-7A19DEE488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EF3C28-B147-443E-9277-1301085443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5D1EF65-8AA2-42F2-8124-9C0385F26C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E5B497-AB81-4C0D-881A-F11124BB1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5E73CEB-3AA6-47EF-8786-B25591A45E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598996D-0604-4B17-B07D-A2F6A233F0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B11E9D-A4C2-4B64-AA6C-2E62EBAF8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9824E64-BBDE-4A0B-8541-E263187D205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1DAE107-18B6-4E4D-9B58-6EEFBEDE01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216B2E-3B2E-4FE5-98CF-D5DC57A150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B0F6F7-CABC-43C8-A3F1-4D439E854F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FD6779-8D1E-4F96-8DAC-0A2678A71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7954-D121-484E-9E68-3E4DFBB14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4FCA52-1EAF-4E7F-ACE8-8ED531942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3082A2-7CE4-41A8-BE89-608453985F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2B19C1-0962-4D72-ABE8-690EE30197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9B52B7-D138-4B5A-BB2A-4CA9792571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4FBBB8A-8AD2-4134-A62E-3DFFC82C8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C22AD8-2EA8-4518-9FA1-30BDB6D22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8D7FFE-0833-4266-B7B5-238943F54E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801EE6-8685-4CCE-8AAA-E67D12F4F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085299-104B-4A41-9031-A17F4D816C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1c9ac0bdf49c4" /><Relationship Type="http://schemas.openxmlformats.org/officeDocument/2006/relationships/slideLayout" Target="/ppt/slideLayouts/slideLayout1.xml" Id="Ra686594bfc694e06" /><Relationship Type="http://schemas.openxmlformats.org/officeDocument/2006/relationships/slideLayout" Target="/ppt/slideLayouts/slideLayout2.xml" Id="R9a690194ddd54c94" /><Relationship Type="http://schemas.openxmlformats.org/officeDocument/2006/relationships/slideLayout" Target="/ppt/slideLayouts/slideLayout3.xml" Id="R87d61f3e62634e5f" /><Relationship Type="http://schemas.openxmlformats.org/officeDocument/2006/relationships/slideLayout" Target="/ppt/slideLayouts/slideLayout4.xml" Id="R12d4bded04b840ad" /><Relationship Type="http://schemas.openxmlformats.org/officeDocument/2006/relationships/slideLayout" Target="/ppt/slideLayouts/slideLayout5.xml" Id="R0b57087b5f8a40af" /><Relationship Type="http://schemas.openxmlformats.org/officeDocument/2006/relationships/slideLayout" Target="/ppt/slideLayouts/slideLayout6.xml" Id="R3374928d77f14cff" /><Relationship Type="http://schemas.openxmlformats.org/officeDocument/2006/relationships/slideLayout" Target="/ppt/slideLayouts/slideLayout7.xml" Id="R99a998ee3b034bf8" /><Relationship Type="http://schemas.openxmlformats.org/officeDocument/2006/relationships/slideLayout" Target="/ppt/slideLayouts/slideLayout8.xml" Id="R71c289f2c7054835" /><Relationship Type="http://schemas.openxmlformats.org/officeDocument/2006/relationships/slideLayout" Target="/ppt/slideLayouts/slideLayout9.xml" Id="Rb50df6c9137c4e39" /><Relationship Type="http://schemas.openxmlformats.org/officeDocument/2006/relationships/slideLayout" Target="/ppt/slideLayouts/slideLayout10.xml" Id="R36dd9c9981df4824" /><Relationship Type="http://schemas.openxmlformats.org/officeDocument/2006/relationships/slideLayout" Target="/ppt/slideLayouts/slideLayout11.xml" Id="R7151243af3ca4b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987CB1F-FD46-4DEA-8F32-641AD0FF2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C2BB55-5AF4-4343-81AD-86806D4132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C43511-4DE4-47CB-ADE7-E7EC81FB87F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BF45A3-E235-4AE9-94D6-E45B9625C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43062A-BDFE-4E5E-ADB5-B9344E2363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6594bfc694e06"/>
    <p:sldLayoutId xmlns:r="http://schemas.openxmlformats.org/officeDocument/2006/relationships" id="2147483650" r:id="R9a690194ddd54c94"/>
    <p:sldLayoutId xmlns:r="http://schemas.openxmlformats.org/officeDocument/2006/relationships" id="2147483651" r:id="R87d61f3e62634e5f"/>
    <p:sldLayoutId xmlns:r="http://schemas.openxmlformats.org/officeDocument/2006/relationships" id="2147483652" r:id="R12d4bded04b840ad"/>
    <p:sldLayoutId xmlns:r="http://schemas.openxmlformats.org/officeDocument/2006/relationships" id="2147483653" r:id="R0b57087b5f8a40af"/>
    <p:sldLayoutId xmlns:r="http://schemas.openxmlformats.org/officeDocument/2006/relationships" id="2147483654" r:id="R3374928d77f14cff"/>
    <p:sldLayoutId xmlns:r="http://schemas.openxmlformats.org/officeDocument/2006/relationships" id="2147483655" r:id="R99a998ee3b034bf8"/>
    <p:sldLayoutId xmlns:r="http://schemas.openxmlformats.org/officeDocument/2006/relationships" id="2147483656" r:id="R71c289f2c7054835"/>
    <p:sldLayoutId xmlns:r="http://schemas.openxmlformats.org/officeDocument/2006/relationships" id="2147483657" r:id="Rb50df6c9137c4e39"/>
    <p:sldLayoutId xmlns:r="http://schemas.openxmlformats.org/officeDocument/2006/relationships" id="2147483658" r:id="R36dd9c9981df4824"/>
    <p:sldLayoutId xmlns:r="http://schemas.openxmlformats.org/officeDocument/2006/relationships" id="2147483659" r:id="R7151243af3ca4bcb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1f99e418ac44d5" /><Relationship Type="http://schemas.openxmlformats.org/officeDocument/2006/relationships/notesSlide" Target="/ppt/notesSlides/notesSlide1.xml" Id="R08a92bd09f66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45fbc9b4b24235" /><Relationship Type="http://schemas.openxmlformats.org/officeDocument/2006/relationships/notesSlide" Target="/ppt/notesSlides/notesSlide2.xml" Id="R3becbd59be7b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426d79d04e4610" /><Relationship Type="http://schemas.openxmlformats.org/officeDocument/2006/relationships/notesSlide" Target="/ppt/notesSlides/notesSlide3.xml" Id="Rc3012e19a8fd4e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d217265e60402f" /><Relationship Type="http://schemas.openxmlformats.org/officeDocument/2006/relationships/notesSlide" Target="/ppt/notesSlides/notesSlide4.xml" Id="Rc9668ddb5bd44d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ae8f779cc440c8" /><Relationship Type="http://schemas.openxmlformats.org/officeDocument/2006/relationships/notesSlide" Target="/ppt/notesSlides/notesSlide5.xml" Id="Ra8a35856f1bd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2dbdb28cda4315" /><Relationship Type="http://schemas.openxmlformats.org/officeDocument/2006/relationships/notesSlide" Target="/ppt/notesSlides/notesSlide6.xml" Id="R138e6c2abe2b4b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316c8a592b41cc" /><Relationship Type="http://schemas.openxmlformats.org/officeDocument/2006/relationships/notesSlide" Target="/ppt/notesSlides/notesSlide7.xml" Id="Re691c870275c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48010ce99c4982" /><Relationship Type="http://schemas.openxmlformats.org/officeDocument/2006/relationships/notesSlide" Target="/ppt/notesSlides/notesSlide8.xml" Id="Rc767ab21e6524d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1ca720fd2c47ce" /><Relationship Type="http://schemas.openxmlformats.org/officeDocument/2006/relationships/notesSlide" Target="/ppt/notesSlides/notesSlide9.xml" Id="R2536cf4da9cd4e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7f12ed70ef4787" /><Relationship Type="http://schemas.openxmlformats.org/officeDocument/2006/relationships/notesSlide" Target="/ppt/notesSlides/notesSlide10.xml" Id="Rfd7dda8a281a4a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eca0351122473d" /><Relationship Type="http://schemas.openxmlformats.org/officeDocument/2006/relationships/notesSlide" Target="/ppt/notesSlides/notesSlide11.xml" Id="R5c97c669affc49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d9278d031f46b6" /><Relationship Type="http://schemas.openxmlformats.org/officeDocument/2006/relationships/notesSlide" Target="/ppt/notesSlides/notesSlide12.xml" Id="R7e0a9976217b48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83129700884b4e" /><Relationship Type="http://schemas.openxmlformats.org/officeDocument/2006/relationships/notesSlide" Target="/ppt/notesSlides/notesSlide13.xml" Id="Rafbb48435b924e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db823e1f844f7e" /><Relationship Type="http://schemas.openxmlformats.org/officeDocument/2006/relationships/notesSlide" Target="/ppt/notesSlides/notesSlide14.xml" Id="R962de56c51b94b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f7b3ce24214cb9" /><Relationship Type="http://schemas.openxmlformats.org/officeDocument/2006/relationships/notesSlide" Target="/ppt/notesSlides/notesSlide15.xml" Id="R4e7b0bafb0c44b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8b763bf94f4103" /><Relationship Type="http://schemas.openxmlformats.org/officeDocument/2006/relationships/notesSlide" Target="/ppt/notesSlides/notesSlide16.xml" Id="R43b07becf06d47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b1fa635fc64e60" /><Relationship Type="http://schemas.openxmlformats.org/officeDocument/2006/relationships/notesSlide" Target="/ppt/notesSlides/notesSlide17.xml" Id="Ra4304fc9e9e846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006ccf6af8402a" /><Relationship Type="http://schemas.openxmlformats.org/officeDocument/2006/relationships/notesSlide" Target="/ppt/notesSlides/notesSlide18.xml" Id="R6f351b1c20da42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8b0f779e4f4801" /><Relationship Type="http://schemas.openxmlformats.org/officeDocument/2006/relationships/notesSlide" Target="/ppt/notesSlides/notesSlide19.xml" Id="R478ca266b4c041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203162b99146f6" /><Relationship Type="http://schemas.openxmlformats.org/officeDocument/2006/relationships/notesSlide" Target="/ppt/notesSlides/notesSlide20.xml" Id="R28c516260d0e42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a0b6ff41a04cf1" /><Relationship Type="http://schemas.openxmlformats.org/officeDocument/2006/relationships/notesSlide" Target="/ppt/notesSlides/notesSlide21.xml" Id="R0c723b9de3314b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82563cd0264b08" /><Relationship Type="http://schemas.openxmlformats.org/officeDocument/2006/relationships/notesSlide" Target="/ppt/notesSlides/notesSlide22.xml" Id="R3dfb45d9095740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428e6f884b4b1b" /><Relationship Type="http://schemas.openxmlformats.org/officeDocument/2006/relationships/notesSlide" Target="/ppt/notesSlides/notesSlide23.xml" Id="R907dbf33d95f4d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81c00662f94f2d" /><Relationship Type="http://schemas.openxmlformats.org/officeDocument/2006/relationships/notesSlide" Target="/ppt/notesSlides/notesSlide24.xml" Id="Rdd5b2295d89c478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043e199a69423c" /><Relationship Type="http://schemas.openxmlformats.org/officeDocument/2006/relationships/notesSlide" Target="/ppt/notesSlides/notesSlide25.xml" Id="R858af488b3e2444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dc7a4a4b454684" /><Relationship Type="http://schemas.openxmlformats.org/officeDocument/2006/relationships/notesSlide" Target="/ppt/notesSlides/notesSlide26.xml" Id="R098a414e305740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61021cbcfe405d" /><Relationship Type="http://schemas.openxmlformats.org/officeDocument/2006/relationships/notesSlide" Target="/ppt/notesSlides/notesSlide27.xml" Id="Raf2e0397d34a492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b190e0c0954a26" /><Relationship Type="http://schemas.openxmlformats.org/officeDocument/2006/relationships/notesSlide" Target="/ppt/notesSlides/notesSlide28.xml" Id="Rb875e499030047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1c9d4efb824140" /><Relationship Type="http://schemas.openxmlformats.org/officeDocument/2006/relationships/notesSlide" Target="/ppt/notesSlides/notesSlide29.xml" Id="R3f605655da5e42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301b8d35574d24" /><Relationship Type="http://schemas.openxmlformats.org/officeDocument/2006/relationships/notesSlide" Target="/ppt/notesSlides/notesSlide30.xml" Id="Rcd856c08217f412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1e155776694053" /><Relationship Type="http://schemas.openxmlformats.org/officeDocument/2006/relationships/notesSlide" Target="/ppt/notesSlides/notesSlide31.xml" Id="R9dc2c75ec1de49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18569f8c354861" /><Relationship Type="http://schemas.openxmlformats.org/officeDocument/2006/relationships/notesSlide" Target="/ppt/notesSlides/notesSlide32.xml" Id="R89a671ad634a462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51ff3742404e51" /><Relationship Type="http://schemas.openxmlformats.org/officeDocument/2006/relationships/notesSlide" Target="/ppt/notesSlides/notesSlide33.xml" Id="R7c9ed0ab652040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D4F7A24-2AE8-4856-9018-14C04169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1A5A1D-6AED-48C0-BAB5-D052F57C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72CC754-FE99-42AF-99B2-7835C696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D6C77D8-B349-420A-9D5E-2ACC2E9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945469A-7EFE-41F6-9E22-E629454A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0DCA4B0-EA0F-4EDE-AFC0-D798C12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3FE487C-47DE-4145-BF93-6617A74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78951E3-A0D4-4E42-86BA-26A2955F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5C75A76-1CA0-46EB-A30D-F21F6354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671B9F5-E51B-45AC-9442-A8C7062E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84D0E22-354C-4FAA-90D2-CF20C19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081999E-24E1-4FAA-83BF-CCF083C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A254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3937CDC-C2D1-44D9-9202-B1340058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38100"/>
          </a:xfrm>
          <a:custGeom xmlns:a="http://schemas.openxmlformats.org/drawingml/2006/main">
            <a:rect l="l" t="t" r="r" b="b"/>
            <a:pathLst>
              <a:path w="24384000" h="50800">
                <a:moveTo>
                  <a:pt x="0" y="0"/>
                </a:moveTo>
                <a:lnTo>
                  <a:pt x="24384000" y="0"/>
                </a:lnTo>
                <a:lnTo>
                  <a:pt x="24384000" y="50800"/>
                </a:lnTo>
                <a:lnTo>
                  <a:pt x="0" y="508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3AF185-E99B-48CC-97CB-C8FC5B8C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6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BDB009E-F245-46BC-A69D-060C71FD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3629025"/>
            <a:ext cx="13335000" cy="12113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9357"/>
              </a:lnSpc>
              <a:spcBef>
                <a:spcPct val="0"/>
              </a:spcBef>
              <a:buNone/>
              <a:defRPr sz="43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43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Автоматизация TeamCity с нуля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02BA284-B29C-4BD6-903F-0778D2EE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5248275"/>
            <a:ext cx="11430000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3919"/>
              </a:lnSpc>
              <a:spcBef>
                <a:spcPct val="0"/>
              </a:spcBef>
              <a:buNone/>
              <a:defRPr sz="1875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75" b="1" u="none">
                <a:solidFill>
                  <a:srgbClr val="22D3EE"/>
                </a:solidFill>
                <a:latin typeface="Inter"/>
                <a:ea typeface="Inter"/>
                <a:cs typeface="Inter"/>
              </a:rPr>
              <a:t>Командные достижения и личный вклад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116D674-572D-4914-8896-65728FD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6276975"/>
            <a:ext cx="9525000" cy="7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800"/>
              </a:lnSpc>
              <a:spcBef>
                <a:spcPct val="0"/>
              </a:spcBef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 u="none">
                <a:solidFill>
                  <a:srgbClr val="7F91B4"/>
                </a:solidFill>
                <a:latin typeface="Inter"/>
                <a:ea typeface="Inter"/>
                <a:cs typeface="Inter"/>
              </a:rPr>
              <a:t>QA-команда</a:t>
            </a:r>
          </a:p>
          <a:p xmlns:a="http://schemas.openxmlformats.org/drawingml/2006/main">
            <a:pPr marL="0" lvl="0" indent="0" algn="ctr">
              <a:lnSpc>
                <a:spcPts val="2800"/>
              </a:lnSpc>
              <a:spcBef>
                <a:spcPct val="0"/>
              </a:spcBef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 u="none">
                <a:solidFill>
                  <a:srgbClr val="7F91B4"/>
                </a:solidFill>
                <a:latin typeface="Inter"/>
                <a:ea typeface="Inter"/>
                <a:cs typeface="Inter"/>
              </a:rPr>
              <a:t>Екатерина Кончина • Пётр Самохин • Никита Снегирев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903B323-BB6F-4A88-9FE2-6896E06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571500" cy="19050"/>
          </a:xfrm>
          <a:custGeom xmlns:a="http://schemas.openxmlformats.org/drawingml/2006/main">
            <a:rect l="l" t="t" r="r" b="b"/>
            <a:pathLst>
              <a:path w="762000" h="25400">
                <a:moveTo>
                  <a:pt x="0" y="0"/>
                </a:moveTo>
                <a:lnTo>
                  <a:pt x="762000" y="0"/>
                </a:lnTo>
                <a:lnTo>
                  <a:pt x="76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D2BB233-8E10-4738-9550-E0727431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571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02769447-74EC-448E-9694-F48D29A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571500"/>
          </a:xfrm>
          <a:custGeom xmlns:a="http://schemas.openxmlformats.org/drawingml/2006/main">
            <a:rect l="l" t="t" r="r" b="b"/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065137-C918-46A5-B6CD-F4B4F3B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70779BA-18C0-48C8-AE7A-25A7E4CB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0" y="9886950"/>
            <a:ext cx="571500" cy="19050"/>
          </a:xfrm>
          <a:custGeom xmlns:a="http://schemas.openxmlformats.org/drawingml/2006/main">
            <a:rect l="l" t="t" r="r" b="b"/>
            <a:pathLst>
              <a:path w="762000" h="25400">
                <a:moveTo>
                  <a:pt x="0" y="0"/>
                </a:moveTo>
                <a:lnTo>
                  <a:pt x="762000" y="0"/>
                </a:lnTo>
                <a:lnTo>
                  <a:pt x="76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79AE9F-FC3E-4F09-AF80-6D80C5A7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0" y="9858375"/>
            <a:ext cx="571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6A512D0-7827-4B8B-A5FD-20DD1880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87950" y="9334500"/>
            <a:ext cx="19050" cy="571500"/>
          </a:xfrm>
          <a:custGeom xmlns:a="http://schemas.openxmlformats.org/drawingml/2006/main">
            <a:rect l="l" t="t" r="r" b="b"/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2A38E8A-A278-454D-A6BB-A1B32B8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87950" y="9305925"/>
            <a:ext cx="190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80477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8FA196A-2AD0-4DBD-B1D6-BB90AA9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DBE6EB0-973B-44A2-BB5C-26A1B03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EF740AA-F2B7-4F93-9F3D-0973990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729B6BB-D9FF-42E9-8DA5-37BABC6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C90BF2C-41DA-400A-8A24-FEDEE71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63CD34-9766-4F0E-85FB-EF10168E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1420E4-68B4-4396-AD61-1348E41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19125"/>
            <a:ext cx="16002000" cy="8110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6222"/>
              </a:lnSpc>
              <a:spcBef>
                <a:spcPct val="0"/>
              </a:spcBef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Проект начинался с нуля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0D8F2DE-5D7F-4017-BD6D-4184619F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381125"/>
            <a:ext cx="1905000" cy="19050"/>
          </a:xfrm>
          <a:custGeom xmlns:a="http://schemas.openxmlformats.org/drawingml/2006/main">
            <a:rect l="l" t="t" r="r" b="b"/>
            <a:pathLst>
              <a:path w="2540000" h="25400">
                <a:moveTo>
                  <a:pt x="0" y="0"/>
                </a:moveTo>
                <a:lnTo>
                  <a:pt x="2540000" y="0"/>
                </a:lnTo>
                <a:lnTo>
                  <a:pt x="2540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973540-67EE-463F-BF47-4AB4A0F6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352550"/>
            <a:ext cx="1905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C167C64-287B-40CA-8335-72BFB371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714500"/>
            <a:ext cx="16002000" cy="72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 старте отсутствовали: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готовый набор автотестов;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согласованный тестовый план;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единая структура автоматизации;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воспроизводимый CI-запуск;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автоматически подготовленное окружение TeamCity;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8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единый способ анализа результатов.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B9C5DD"/>
                </a:solidFill>
                <a:latin typeface="Inter"/>
                <a:ea typeface="Inter"/>
                <a:cs typeface="Inter"/>
              </a:rPr>
              <a:t>Цель команды: построить систему автоматизированного контроля качества TeamCity — от тестового плана до CI и отчётности.</a:t>
            </a:r>
          </a:p>
        </p:txBody>
      </p:sp>
    </p:spTree>
    <p:extLst>
      <p:ext uri="{BB962C8B-B14F-4D97-AF65-F5344CB8AC3E}">
        <p14:creationId xmlns:p14="http://schemas.microsoft.com/office/powerpoint/2010/main" val="1050180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5B43F4A-0964-4619-8B1E-880D621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2C832FB-87A9-4C10-90B3-F65E0B8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FF44BEF-0C19-4730-8B29-3A921282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885BCB1-5B5B-4B03-A19E-CF1B5D3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18E7EA4-1A72-4E39-9D40-5551622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07B4D0-01D4-47D8-B11C-3A04EE71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A2B63A-9B67-4699-ABF0-A426D7C3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19125"/>
            <a:ext cx="16002000" cy="1580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6222"/>
              </a:lnSpc>
              <a:spcBef>
                <a:spcPct val="0"/>
              </a:spcBef>
              <a:buNone/>
              <a:defRPr sz="28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8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Командный кейс 1. Автоматизация ключевых сценариев TeamCity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CE5FA9F-9EA5-4CE9-85C7-66FA93C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571625"/>
            <a:ext cx="1905000" cy="19050"/>
          </a:xfrm>
          <a:custGeom xmlns:a="http://schemas.openxmlformats.org/drawingml/2006/main">
            <a:rect l="l" t="t" r="r" b="b"/>
            <a:pathLst>
              <a:path w="2540000" h="25400">
                <a:moveTo>
                  <a:pt x="0" y="0"/>
                </a:moveTo>
                <a:lnTo>
                  <a:pt x="2540000" y="0"/>
                </a:lnTo>
                <a:lnTo>
                  <a:pt x="2540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30EA8E1-231C-4883-9BA5-C350FD27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543050"/>
            <a:ext cx="1905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B376378-FDFC-436B-8A40-0F8B32F7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790700"/>
            <a:ext cx="16002000" cy="75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Задача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С нуля создать regression ключевых функций TeamCity на нескольких уровнях.</a:t>
            </a:r>
          </a:p>
          <a:p xmlns:a="http://schemas.openxmlformats.org/drawingml/2006/main">
            <a:pPr algn="l">
              <a:lnSpc>
                <a:spcPct val="94000"/>
              </a:lnSpc>
              <a:spcBef>
                <a:spcPts val="12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Что сделала команда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сформировала тестовый план и scope;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реализовала API-проверки проектов, configurations, build steps, пользователей и access tokens;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реализовала UI-сценарии входа и управления основными сущностями;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добавила DB- и configuration-проверки;</a:t>
            </a:r>
          </a:p>
          <a:p xmlns:a="http://schemas.openxmlformats.org/drawingml/2006/main">
            <a:pPr algn="l">
              <a:lnSpc>
                <a:spcPct val="94000"/>
              </a:lnSpc>
              <a:spcBef>
                <a:spcPts val="12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Результат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50 API-проверок + 7 UI-сценариев × 3 браузера.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Это 71 результат выполнения, а не 71 уникальный сценарий. Unit-тесты и отдельный contract regression в заявленный набор не входят.</a:t>
            </a:r>
          </a:p>
        </p:txBody>
      </p:sp>
    </p:spTree>
    <p:extLst>
      <p:ext uri="{BB962C8B-B14F-4D97-AF65-F5344CB8AC3E}">
        <p14:creationId xmlns:p14="http://schemas.microsoft.com/office/powerpoint/2010/main" val="540017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D829D2C-1CF5-44BA-BE2A-A0049C10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888FDD0-3DE6-4165-95A7-8A292B02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374A8AE-F6AC-4A36-99C8-2F1FA27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07BE9F3-82E1-45D7-BB40-11196BBB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A116CCF-E28E-472D-BBD7-49C4B7C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3FB2D34-1DBD-4F49-BA11-876575A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DD158F7-6E70-40D8-9CC3-F2629140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28650"/>
            <a:ext cx="16002000" cy="802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6160"/>
              </a:lnSpc>
              <a:spcBef>
                <a:spcPct val="0"/>
              </a:spcBef>
              <a:buNone/>
              <a:defRPr sz="28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8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Командный кейс 2. Автоматизация запуска в GitHub Actions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01D3A37-B389-411B-8B9A-57F08FA3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571625"/>
            <a:ext cx="1905000" cy="19050"/>
          </a:xfrm>
          <a:custGeom xmlns:a="http://schemas.openxmlformats.org/drawingml/2006/main">
            <a:rect l="l" t="t" r="r" b="b"/>
            <a:pathLst>
              <a:path w="2540000" h="25400">
                <a:moveTo>
                  <a:pt x="0" y="0"/>
                </a:moveTo>
                <a:lnTo>
                  <a:pt x="2540000" y="0"/>
                </a:lnTo>
                <a:lnTo>
                  <a:pt x="2540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48AF-12CC-4390-8498-EE5A4D61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543050"/>
            <a:ext cx="1905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3F3D40B-7BBC-4828-AD2C-5D03309B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790700"/>
            <a:ext cx="16002000" cy="75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Задача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Настроить запуск проверок в GitHub Actions с автоматическим развёртыванием и первичной настройкой отдельного чистого TeamCity-стенда.</a:t>
            </a:r>
          </a:p>
          <a:p xmlns:a="http://schemas.openxmlformats.org/drawingml/2006/main">
            <a:pPr algn="l">
              <a:lnSpc>
                <a:spcPct val="94000"/>
              </a:lnSpc>
              <a:spcBef>
                <a:spcPts val="12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Что сделала команда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автоматизировала развёртывание и первоначальную настройку TeamCity;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разделила API и три браузера на независимые jobs и стенды;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настроила последовательность: проверка БД → smoke → полный regression;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вынесла PostgreSQL regression в отдельный регулярный и ручной запуск.</a:t>
            </a:r>
          </a:p>
          <a:p xmlns:a="http://schemas.openxmlformats.org/drawingml/2006/main">
            <a:pPr algn="l">
              <a:lnSpc>
                <a:spcPct val="94000"/>
              </a:lnSpc>
              <a:spcBef>
                <a:spcPts val="12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Результат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Запуск не зависит от заранее подготовленного стенда. API и три браузера работают независимо, а критические падения становятся quality gate.</a:t>
            </a:r>
          </a:p>
        </p:txBody>
      </p:sp>
    </p:spTree>
    <p:extLst>
      <p:ext uri="{BB962C8B-B14F-4D97-AF65-F5344CB8AC3E}">
        <p14:creationId xmlns:p14="http://schemas.microsoft.com/office/powerpoint/2010/main" val="1648064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BE2E5F8-1D18-4958-B646-F1DA5CE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2BC610F-408F-4D85-BF42-15471297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66C87EB-5E16-4A0C-9B0C-E78CEC4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5FECC95-CB9B-4B00-900F-4672CD68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6873563-D2EC-40D9-AB89-05EE4E49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12B75A-C94F-4095-A26C-FCCB099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92E60C-ED25-43A9-86D1-F0CBE3AB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28650"/>
            <a:ext cx="16002000" cy="1564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6160"/>
              </a:lnSpc>
              <a:spcBef>
                <a:spcPct val="0"/>
              </a:spcBef>
              <a:buNone/>
              <a:defRPr sz="28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8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Командный кейс 3. Единая отчётность в Allure и QA-дашбордах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EC8AD91-88F8-41F2-B4CA-1E1B822F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571625"/>
            <a:ext cx="1905000" cy="19050"/>
          </a:xfrm>
          <a:custGeom xmlns:a="http://schemas.openxmlformats.org/drawingml/2006/main">
            <a:rect l="l" t="t" r="r" b="b"/>
            <a:pathLst>
              <a:path w="2540000" h="25400">
                <a:moveTo>
                  <a:pt x="0" y="0"/>
                </a:moveTo>
                <a:lnTo>
                  <a:pt x="2540000" y="0"/>
                </a:lnTo>
                <a:lnTo>
                  <a:pt x="2540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791318-5A08-4F7C-9780-EA362AFA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543050"/>
            <a:ext cx="1905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7598632-CF0E-40F8-9C28-A3A5B4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790700"/>
            <a:ext cx="16002000" cy="752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Задача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Сделать результаты распределённого прогона понятными всей команде и сохранить историю и диагностику.</a:t>
            </a:r>
          </a:p>
          <a:p xmlns:a="http://schemas.openxmlformats.org/drawingml/2006/main">
            <a:pPr algn="l">
              <a:lnSpc>
                <a:spcPct val="94000"/>
              </a:lnSpc>
              <a:spcBef>
                <a:spcPts val="12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Что сделала команда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объединила результаты API и трёх браузеров в один Allure-отчёт;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сделала отчёт понятным: сценарии, шаги, браузеры и причины падений;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8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настроила историю запусков, постоянные ссылки, логи и диагностику;</a:t>
            </a:r>
          </a:p>
          <a:p xmlns:a="http://schemas.openxmlformats.org/drawingml/2006/main">
            <a:pPr marL="24" indent="-14"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добавила QA-дашборд с метриками прогонов и отдельный dashboard code coverage.</a:t>
            </a:r>
          </a:p>
          <a:p xmlns:a="http://schemas.openxmlformats.org/drawingml/2006/main">
            <a:pPr algn="l">
              <a:lnSpc>
                <a:spcPct val="94000"/>
              </a:lnSpc>
              <a:spcBef>
                <a:spcPts val="12"/>
              </a:spcBef>
              <a:spcAft>
                <a:spcPts val="6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C5DD"/>
                </a:solidFill>
                <a:latin typeface="Inter"/>
                <a:ea typeface="Inter"/>
                <a:cs typeface="Inter"/>
              </a:rPr>
              <a:t>Результат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19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B9C5DD"/>
                </a:solidFill>
                <a:latin typeface="Inter"/>
                <a:ea typeface="Inter"/>
                <a:cs typeface="Inter"/>
              </a:rPr>
              <a:t>Команда видит сценарий, браузер, шаг и причину падения, сравнивает результаты в динамике и переходит к диагностике конкретного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470961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F1CD29F-7AA7-40C0-953F-63977478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4C43251-F21C-4933-B759-BB60EEA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C887B95-BBFC-409B-85A6-E3986C9D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4133850"/>
            <a:ext cx="13335000" cy="1697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6683"/>
              </a:lnSpc>
              <a:spcBef>
                <a:spcPct val="0"/>
              </a:spcBef>
              <a:buNone/>
              <a:defRPr sz="2925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925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Проблемы, с которыми команда столкнулась во время работы над проектом</a:t>
            </a:r>
          </a:p>
        </p:txBody>
      </p:sp>
    </p:spTree>
    <p:extLst>
      <p:ext uri="{BB962C8B-B14F-4D97-AF65-F5344CB8AC3E}">
        <p14:creationId xmlns:p14="http://schemas.microsoft.com/office/powerpoint/2010/main" val="1845478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598D9FA-CB89-425C-8B0C-F51035D6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C017AEB-8492-4E78-B4B4-55AC271A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BE5584A-C272-48E5-9032-02E57FD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AAC048C-F449-4AFE-B1DB-F74330C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3C71D7B-C02C-4F77-BC86-3B31722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DA0036-8B58-4796-825B-B2131E47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4DBCB6-788A-4D4C-B1F0-289DA2C5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5040"/>
              </a:lnSpc>
              <a:spcBef>
                <a:spcPct val="0"/>
              </a:spcBef>
              <a:buNone/>
              <a:defRPr sz="28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8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1. TeamCity останавливался на первом запуске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72FAE02-81B0-4AE8-A5AE-3F2400C0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95375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B8B9E4-2277-4F03-864B-B1DA9558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66800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B860D4C-26A4-4A0E-91EB-4441AF75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9D8CD27-C409-4A6D-9281-9AA56F82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C6A71A7-285B-4B31-AC92-C71E9BE5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57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Что произошло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14CA5A-9489-4569-9622-BBD02813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924050"/>
            <a:ext cx="7353300" cy="4063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 чистом runner обычного запуска Docker-контейнера оказалось недостаточно. TeamCity требовал подтверждения first start, выбора БД, принятия лицензии, создания администратора, access token и авторизации Agents.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A506716-2462-403E-A1F4-1DC7287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142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E0C7478-E964-4A09-AF47-E9578F39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140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4A7ADD8-140E-4596-864F-42C4706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157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Почему это глобальная проблема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B6EB921-33BF-4478-B7FE-9D6459EB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1924050"/>
            <a:ext cx="7353300" cy="28273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 завершения setup невозможно выполнить ни API-, ни UI-, ни DB-проверки. Проблема блокировала весь CI-контур.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DC8E3C9-BB8C-4B03-A436-80B1B3C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3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DF51740-FFC2-4C98-9C5D-DD566A5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1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15E0D76-F45D-4244-B71B-188DA40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38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Решение команды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3771585-34F6-4BD1-805C-E1A65DCC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734050"/>
            <a:ext cx="7353300" cy="3396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Команда автоматизировала первоначальную настройку TeamCity: подтверждение первого запуска, выбор базы данных, принятие лицензии, создание временного администратора и ключа доступа. Перед тестами система проверяет, что TeamCity полностью настроен и готов к работе.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70C627D-1E69-4B36-BC88-53E6893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523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6D4F71-1EA5-4D2E-BA89-C7EF7ED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521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77E372F-EAF4-464C-AF5D-4DF585F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538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Результат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30F1A5C-A1EB-433D-BE08-A56BEA0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5867400"/>
            <a:ext cx="7353300" cy="3277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В каждом CI job автоматически разворачивается и настраивается отдельный чистый TeamCity-стенд; ручное вмешательство не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461287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A772FE-0AA6-4021-9A17-325AB357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4217969-0A48-4688-8FD0-C5B89D8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535AE3D-9255-4201-8F35-65529623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777C3A0-F49C-40CF-BA90-80BFEDC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700E86F-44AC-4044-BE0E-A8C43378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804C531-6A86-44CB-8C73-D160788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35188A-FF78-498A-A7C5-3A6D3602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5040"/>
              </a:lnSpc>
              <a:spcBef>
                <a:spcPct val="0"/>
              </a:spcBef>
              <a:buNone/>
              <a:defRPr sz="28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8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2. Параллельные тесты влияли друг на друга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A9E5B18-A3A6-4D1B-8C7C-90778318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95375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7B6985-523C-4C5B-8607-E0295E5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66800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8D3A517-4821-4E55-8AFB-023D3DDD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2B9421E-6190-46B4-A493-1613C082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5D13362-6D93-4708-B7E8-A5C74099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57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Что произошло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34A273B-326E-4C7F-A8E3-7CBA9EC5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924050"/>
            <a:ext cx="7353300" cy="52246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При параллельном запуске несколько API- и UI-тестов одновременно создавали, изменяли и удаляли данные на одном TeamCity-стенде. Один тест мог перезаписать или удалить данные, которые в этот момент использовал другой. Это создавало ложные падения и делало результаты нестабильными и невалидными.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B2CC47-658A-41D9-8C70-4C4D4F4C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1428750"/>
            <a:ext cx="7810500" cy="742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A774575-400C-4457-B126-AE5E891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1400175"/>
            <a:ext cx="7810500" cy="745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1AE4490-FDD2-402D-A9A1-919DAF8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1657350"/>
            <a:ext cx="735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Решение команды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ED96BC5-7AD2-411F-9701-373FAED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095500"/>
            <a:ext cx="7353300" cy="628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• выделила отдельный чистый TeamCity-стенд для API и каждого браузера;</a:t>
            </a:r>
          </a:p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• изолировала тестовые данные с помощью уникальных имён и идентификаторов;</a:t>
            </a:r>
          </a:p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• закрепила за каждым тестом создание и удаление собственных объектов;</a:t>
            </a:r>
          </a:p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• согласовала количество параллельных тестов с количеством TeamCity Agents.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D639A4A-8CB3-41D5-BC26-3DFCC30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3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21A97CA-255A-4105-B3D6-0FFA922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1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3EA1533-D22C-40BC-926F-E8D2B619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38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Результат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B35DAFF-59BF-40BD-9C11-B513469A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762625"/>
            <a:ext cx="7353300" cy="27851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Тесты выполняются параллельно, но не меняют данные друг друга. Результаты стали стабильными и воспроизводимыми: падение указывает на реальную проблему, а не на конфликт между одновременно работающими тестами.</a:t>
            </a:r>
          </a:p>
        </p:txBody>
      </p:sp>
    </p:spTree>
    <p:extLst>
      <p:ext uri="{BB962C8B-B14F-4D97-AF65-F5344CB8AC3E}">
        <p14:creationId xmlns:p14="http://schemas.microsoft.com/office/powerpoint/2010/main" val="928280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98CBE5B-CC90-41BA-92D1-47F0B1A9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8F2F3C8-C97E-40E6-BD95-FCB40B78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E76CD04-7EF3-4398-BA59-32CB390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005EF84-A650-40CC-95F7-0C598F6E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F55867A-8D53-441D-AE7E-02356ADA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73C8DE-2E37-4EED-AAA0-4F7A6C6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97FB48-1AB3-4E78-BF4F-03FF4A6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5040"/>
              </a:lnSpc>
              <a:spcBef>
                <a:spcPct val="0"/>
              </a:spcBef>
              <a:buNone/>
              <a:defRPr sz="28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850" b="1" u="none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3. Невоспроизводимость тестового окружения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DE65796-B36F-4CE0-8CE8-0B9FE5EA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95375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317ACC-6A46-4165-B13E-CE7BC1DA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66800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C24A86B-B7E6-47D9-A4CF-2E4570DD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321EA8E-0672-41E5-91A6-F1743514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11BC635-6EE5-48CA-8388-7AE9F1BD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57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Что произошло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40C319A-C4E9-4C9A-9DF2-1506CDE0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981200"/>
            <a:ext cx="7353300" cy="4989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Локальные запуски и запуски на чистых CI runners могли выполняться в разных условиях. Результат зависел от версии и состояния TeamCity, настроек базы данных, credentials, доступности Agents и готовности сервисов. Один и тот же набор тестов мог проходить на заранее подготовленном стенде и падать после развёртывания с нуля.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4596460-0389-4C2E-8214-3A234A44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142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155F987-8640-40E1-BFBF-D39304B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140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6E4B6AC-968D-4542-B007-7AA296B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157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Почему это глобальная проблема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DB40BA3-AB5C-47BA-AC86-0965FE6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190750"/>
            <a:ext cx="7353300" cy="34998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Различия окружений влияли одновременно на API-, UI- и DB-проверки. Команда не могла однозначно определить, связано ли падение с дефектом TeamCity, тестом или конфигурацией стенда.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2326468-E7F7-42BE-B086-418787F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3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236D9AD-44E8-4335-B3E0-49CBEE3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1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620EBEF-29D3-40DF-8270-5611405A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38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Решение команды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D85D18F-A9E0-46B8-8229-3040866D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943600"/>
            <a:ext cx="7353300" cy="2894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Команда зафиксировала конфигурацию окружения в Docker Compose и CI actions, централизовала параметры запуска и credentials, автоматизировала настройку TeamCity и добавила healthcheck, preflight и проверки готовности Server, Agents и базы данных. Для API и каждого браузера поднимается отдельный чистый стенд.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FE0040E-2175-4148-8B0B-87A94A16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5238750"/>
            <a:ext cx="7810500" cy="3619500"/>
          </a:xfrm>
          <a:custGeom xmlns:a="http://schemas.openxmlformats.org/drawingml/2006/main">
            <a:rect l="l" t="t" r="r" b="b"/>
            <a:pathLst>
              <a:path w="10414000" h="4826000">
                <a:moveTo>
                  <a:pt x="482600" y="0"/>
                </a:moveTo>
                <a:lnTo>
                  <a:pt x="9931400" y="0"/>
                </a:lnTo>
                <a:cubicBezTo>
                  <a:pt x="10197933" y="0"/>
                  <a:pt x="10414000" y="216067"/>
                  <a:pt x="10414000" y="482600"/>
                </a:cubicBezTo>
                <a:lnTo>
                  <a:pt x="10414000" y="4343400"/>
                </a:lnTo>
                <a:cubicBezTo>
                  <a:pt x="10414000" y="4609933"/>
                  <a:pt x="10197933" y="4826000"/>
                  <a:pt x="9931400" y="4826000"/>
                </a:cubicBezTo>
                <a:lnTo>
                  <a:pt x="482600" y="4826000"/>
                </a:lnTo>
                <a:cubicBezTo>
                  <a:pt x="216067" y="4826000"/>
                  <a:pt x="0" y="4609933"/>
                  <a:pt x="0" y="4343400"/>
                </a:cubicBezTo>
                <a:lnTo>
                  <a:pt x="0" y="482600"/>
                </a:lnTo>
                <a:cubicBezTo>
                  <a:pt x="0" y="216067"/>
                  <a:pt x="216067" y="0"/>
                  <a:pt x="4826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BC0050-AAD7-469C-BA6C-920C9C4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5210175"/>
            <a:ext cx="7810500" cy="3648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3CE67E9-8FD5-4149-8E4A-040FB83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5381625"/>
            <a:ext cx="73533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Результат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4D70C2-BEF8-4CC0-A6F8-9B5E2DC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5734050"/>
            <a:ext cx="7353300" cy="4063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8000"/>
              </a:lnSpc>
              <a:spcBef>
                <a:spcPct val="0"/>
              </a:spcBef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 u="none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 чистом runner воспроизводится одинаковый порядок развёртывания и настройки окружения. Запуск больше не зависит от вручную подготовленного состояния, а результаты разных jobs можно сравнивать между собой.</a:t>
            </a:r>
          </a:p>
        </p:txBody>
      </p:sp>
    </p:spTree>
    <p:extLst>
      <p:ext uri="{BB962C8B-B14F-4D97-AF65-F5344CB8AC3E}">
        <p14:creationId xmlns:p14="http://schemas.microsoft.com/office/powerpoint/2010/main" val="243411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54256F1-F21A-4A1A-A895-E8BACEC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AAAAA3D-1E7C-4C76-B26D-6766199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21F0DE2-F055-40E6-9C6E-A81B6AD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16018AD-778F-4D23-A6E4-E3CC006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D020DCE-29F0-454F-A519-C24B4D80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67ABDF-5814-4A42-A5BB-0334061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753C00-7791-427F-94BE-7AB737D4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"/>
            <a:ext cx="16002000" cy="87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вклад Екатерины Кончиной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68CCFBB-72E8-4418-A857-BAF35271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714500" cy="19050"/>
          </a:xfrm>
          <a:custGeom xmlns:a="http://schemas.openxmlformats.org/drawingml/2006/main">
            <a:rect l="l" t="t" r="r" b="b"/>
            <a:pathLst>
              <a:path w="2286000" h="25400">
                <a:moveTo>
                  <a:pt x="0" y="0"/>
                </a:moveTo>
                <a:lnTo>
                  <a:pt x="2286000" y="0"/>
                </a:lnTo>
                <a:lnTo>
                  <a:pt x="2286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9A5C3C-12EF-4DD2-9D47-B0D5CC9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714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5242CD-DEFC-4A4E-9A35-0898CDF5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381125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Три самостоятельных направления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Каждый кейс представлен по методологии STAR: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Situation → Task → Action → Result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6CD81BB-64D2-4EFE-8E8F-6D51EFE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7DF239-35FB-41EF-A8BB-CA5288D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A499206-560B-4F6F-9701-A769315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AAB38DB-6362-4E24-A718-C74A7202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Построение CI-пайплайна с Telegram-уведомлениями.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702E448-7E0A-451A-930A-4636926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CC94F1-C201-4670-9905-CAEDC08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E94A77B-225E-475F-BDBD-CE4CA3D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458E636-B2A0-4529-970B-C1680CF2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Независимая DB-верификация состояния TeamCity.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EB53542-BBC9-49EE-A5C9-7D0E66E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BAC0625-EBA0-40C2-97C7-0AA12FC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310F17-ED37-415C-824F-FA25956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2893A9A-4D30-4DBA-922B-0AD5869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Создание системы отчётности: Allure, QA-метрики и coverage.</a:t>
            </a:r>
          </a:p>
        </p:txBody>
      </p:sp>
    </p:spTree>
    <p:extLst>
      <p:ext uri="{BB962C8B-B14F-4D97-AF65-F5344CB8AC3E}">
        <p14:creationId xmlns:p14="http://schemas.microsoft.com/office/powerpoint/2010/main" val="20720631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B8E0E76-9067-4899-ABE0-6884A8FF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87A7357-428A-4D0D-AE78-F212627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3081D68-1FDC-49C6-B550-AB53E6CF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65E553C-AB9D-4A1C-9321-B59D3CD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0B539CD-C628-4B35-B479-D399E1F0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F5967B-B235-4B9E-BDAB-6E6C75AE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CBA6073-BE00-4EEA-905D-3ABB7F3C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1. CI-пайплайн и Telegram-уведомления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94B9313-E457-4021-974F-34C70C3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F6248E-251B-4565-9F63-747CC36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47560E8-66D3-4A79-9B8E-8940A21A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ED2A56-3127-468F-B27E-80828C1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2743562-0DDA-40AA-A473-771B56D1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30B53FB-8143-48B0-A2FC-20B51678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Изначально автотесты запускались только локально на компьютерах участников команды. Результат зависел от настроенного окружения конкретного человека, а автоматического запуска при изменениях в проекте и уведомлений не было.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F6C903C-7BC2-4F29-8CB5-08A0B041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882BF51-F730-448C-A407-D479385E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B6420FB-3193-4402-877F-F64C4FA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B9D2AC6-C131-4238-9211-C54334D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Построить полный CI-процесс: от автоматического развёртывания TeamCity и запуска проверок до понятного уведомления команды о результате.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0432E54-AC43-4429-B64B-543AD35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13D9F78-459B-4499-8BCB-1D6FFDE9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AFFC52B-9172-4929-A042-A67A698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DFDAE5C-8F9E-4C0E-AAC6-5A51A43A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настроила GitHub Actions pipeline с проверкой кода, автоматической подготовкой TeamCity, smoke gate, API- и кроссбраузерным regression. Также разработала Telegram-уведомления со статусом jobs, данными PR и ссылками на Allure и запуск.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C312D46-B77D-4E47-B9ED-7B9013F1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D52336A-72B3-491C-BBAB-50F75F15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99EFBAD-A584-48B7-B70D-6068210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CA08EE5-DD30-440C-A988-B3A3653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Каждый PR проходит воспроизводимую проверку на чистом стенде, а команда сразу получает в Telegram итог прогона и ссылки для анализа ошибок.</a:t>
            </a:r>
          </a:p>
        </p:txBody>
      </p:sp>
    </p:spTree>
    <p:extLst>
      <p:ext uri="{BB962C8B-B14F-4D97-AF65-F5344CB8AC3E}">
        <p14:creationId xmlns:p14="http://schemas.microsoft.com/office/powerpoint/2010/main" val="316335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1801B75-E19A-4375-A103-CFC7632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DC9317F-9F5D-41F7-B3E4-132A8540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4DEA92F-F384-4071-8FAB-1065A52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F897106-7412-4862-AED1-D0252C0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9208D5A-0950-4DA8-93A8-B09531AC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A2BED6-142A-4EB8-9B6B-DD5866D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FF43FC8-C8A2-492B-885A-2A216C7E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2. Независимая DB-верификация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52C5634-5901-46B1-BD21-A976C21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5AFB104-F8F1-4EEF-AA8E-A3BF132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A01FF20-C3C3-43B7-BDDC-90D0939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0BADEF-ADB3-48E5-B7AC-B44B7EB4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30DB11-B575-42E9-A937-9A12B30A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1B7A502-01DD-4517-98BC-56AF62A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Успешный REST-ответ не доказывал, что изменения действительно сохранились во внутреннем состоянии TeamCity. При этом прямое подключение к работающей HSQLDB было небезопасным.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A3C548A-ACA9-4D47-ABC1-C33D810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3B0A4A-8D7F-482F-B911-4B0F5FF3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FB9DD12-38D0-474B-A9A9-DEF5F433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4E23A39-D4FE-49F3-BF38-B8435525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Создать единый безопасный механизм проверки данных для HSQLDB и PostgreSQL без SQL внутри самих тестов.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F16311C-49C9-422A-8F89-C344713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C8EF80-8B45-4808-B5FC-CBD4B18B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76E0BA1-4DEC-485E-B555-FC40AE60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0C62274B-349F-4B85-89CC-7DB09457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разделила DB-слой на запросы, исполнители и клиент; реализовала безопасное чтение HSQLDB через backup snapshot и read-only подключение к PostgreSQL; добавила проверки сохранения и удаления основных сущностей и database preflight.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82CD669-EAA1-4332-9F27-4A248C74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7F1AF9B-2D5C-445E-B2EA-1356FC82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6FD3894-721F-4C40-9D90-16795858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795C646-71BD-4740-8D6E-B3A8016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API-проверки получили независимое подтверждение на уровне базы данных. Одна тестовая логика работает с HSQLDB и PostgreSQL, не вмешиваясь в работу TeamCity.</a:t>
            </a:r>
          </a:p>
        </p:txBody>
      </p:sp>
    </p:spTree>
    <p:extLst>
      <p:ext uri="{BB962C8B-B14F-4D97-AF65-F5344CB8AC3E}">
        <p14:creationId xmlns:p14="http://schemas.microsoft.com/office/powerpoint/2010/main" val="63802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1210E5B-9BFC-4F87-9BCA-44946E29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B5D58F7-D7EC-4BF5-AC54-37EEA171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F00985-9208-4587-AF45-4A7911E9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1A40FDD-23B0-406C-88B2-319E5F41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3D9E428-15BC-4C83-89AC-66BAD54E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8FD9AC-EF7B-4200-B5FE-1B7437E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4FBA16-75DC-4477-8756-8504FD77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3. Система отчётности и QA-метрик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75FF60A-FCFB-485A-894E-36861BE8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2A49B1-E8E2-4BA9-936E-9095D93D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898AEAA-62A6-4350-A464-744CC4B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D6BE647-CFE2-4A8C-9418-781735A2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305A82-8371-48CD-A98A-247EA65C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0328C14-6D98-4EB7-A3B7-9B368DB3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Результаты API и трёх браузеров формировались отдельно, а один Allure-отчёт не показывал динамику качества, нестабильные тесты и изменение покрытия.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0B4CCDE-F1A2-4C6B-99AF-3A86C03E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3538FA2-771C-49A8-A8D2-626209D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2A8093F-82E6-402A-B0ED-62B82449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D05D78D-2BB8-4D36-9AE4-88CBE8E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Создать единую систему, в которой можно увидеть текущий результат, историю прогонов, метрики стабильности и покрытие API-фреймворка.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2EE9BD8-E3F4-4116-98FF-F0559CD6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E0F615-A755-47AF-9E58-117AC32A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508228A-F0F1-4880-8C15-CF7E20F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216A7C9-E037-4F18-AE31-6AB9F68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объединила API, Chromium, Firefox и WebKit в общий Allure-отчёт; настроила историю и постоянные ссылки; разработала QA metrics и coverage dashboards; связала показатели с конкретными прогонами.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9E23CA1-67F8-4038-BAE0-7B976EE5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B17B23B-7A19-4519-A939-05A0E4C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D09BB51-2DEF-4964-A962-9F1036E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D602D7CB-C3D5-4EC1-B986-FA1B04E6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Команда видит общий результат автоматизации, сравнивает прогоны, находит flaky- и медленные тесты, контролирует покрытие и переходит от метрики к нужному отчёту.</a:t>
            </a:r>
          </a:p>
        </p:txBody>
      </p:sp>
    </p:spTree>
    <p:extLst>
      <p:ext uri="{BB962C8B-B14F-4D97-AF65-F5344CB8AC3E}">
        <p14:creationId xmlns:p14="http://schemas.microsoft.com/office/powerpoint/2010/main" val="4761351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54256F1-F21A-4A1A-A895-E8BACEC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AAAAA3D-1E7C-4C76-B26D-6766199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21F0DE2-F055-40E6-9C6E-A81B6AD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16018AD-778F-4D23-A6E4-E3CC006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D020DCE-29F0-454F-A519-C24B4D80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67ABDF-5814-4A42-A5BB-0334061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753C00-7791-427F-94BE-7AB737D4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"/>
            <a:ext cx="16002000" cy="87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Конкретные проблемы, решённые Екатериной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68CCFBB-72E8-4418-A857-BAF35271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714500" cy="19050"/>
          </a:xfrm>
          <a:custGeom xmlns:a="http://schemas.openxmlformats.org/drawingml/2006/main">
            <a:rect l="l" t="t" r="r" b="b"/>
            <a:pathLst>
              <a:path w="2286000" h="25400">
                <a:moveTo>
                  <a:pt x="0" y="0"/>
                </a:moveTo>
                <a:lnTo>
                  <a:pt x="2286000" y="0"/>
                </a:lnTo>
                <a:lnTo>
                  <a:pt x="2286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9A5C3C-12EF-4DD2-9D47-B0D5CC9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714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5242CD-DEFC-4A4E-9A35-0898CDF5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381125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Три технических STAR-кейса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Формат каждой истории: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Симптом → задача → исправление → подтверждение результата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6CD81BB-64D2-4EFE-8E8F-6D51EFE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7DF239-35FB-41EF-A8BB-CA5288D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A499206-560B-4F6F-9701-A769315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AAB38DB-6362-4E24-A718-C74A7202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CI-стенд с HSQLDB нельзя было переиспользовать для PostgreSQL.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702E448-7E0A-451A-930A-4636926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CC94F1-C201-4670-9905-CAEDC08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E94A77B-225E-475F-BDBD-CE4CA3D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458E636-B2A0-4529-970B-C1680CF2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DB-клиент для HSQLDB не подходил для работы с PostgreSQL.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EB53542-BBC9-49EE-A5C9-7D0E66E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BAC0625-EBA0-40C2-97C7-0AA12FC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310F17-ED37-415C-824F-FA25956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2893A9A-4D30-4DBA-922B-0AD5869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UI-тесты падали нестабильно, а причину было сложно локализовать.</a:t>
            </a:r>
          </a:p>
        </p:txBody>
      </p:sp>
    </p:spTree>
    <p:extLst>
      <p:ext uri="{BB962C8B-B14F-4D97-AF65-F5344CB8AC3E}">
        <p14:creationId xmlns:p14="http://schemas.microsoft.com/office/powerpoint/2010/main" val="2072063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D3A315C-B1AB-403D-A780-57C0017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42A9713-0147-40BF-906C-A4477784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205CF78-446B-4416-867B-E82CCC7F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8D48B-A96F-4A9F-8B7F-5B3B85F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8CB2B81-8D4D-4E15-87D4-8A3B528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834645-1CE6-452B-B5A9-0223C2E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205653-B556-46FF-9776-3461BD4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1. Для PostgreSQL потребовался отдельный CI-стенд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482B38B-B793-417C-848A-C6316B60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78ABF1-97B4-4ED9-A365-6AF088E2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FE1C5E9-891B-41AE-AE4C-D7627C1B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8F0FC4B-5F0F-4A5F-91F0-B8419701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6D8AFA3-B0AE-46B7-9C0D-F4321FC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1004BB-0A2A-48D3-8BD1-BBCCEB5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Основной CI-стенд запускал TeamCity со встроенной HSQLDB внутри готового окружения. PostgreSQL требовала отдельного контейнера, собственного хранилища и сети. Если база не успевала запуститься или TeamCity не получал JDBC-драйвер и настройки подключения, сервер не стартовал и тесты не выполнялись.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0C9924-3D08-47F0-B9FF-FF52903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835D7CA-E345-42BB-B71B-33EE213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Построить отдельный воспроизводимый стенд TeamCity с PostgreSQL, который можно поднять на чистом runner без ручной настройки.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43CF639-0DC1-418E-A740-3B2644E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04785E9-5481-4187-A5E8-30107FB1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95E0371-F139-4793-9E18-4BD18F05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C05E661-8A41-47E4-A97F-6155C98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создала Docker Compose с отдельными контейнерами TeamCity Server, Agents и PostgreSQL 17.5; добавила healthcheck базы и правильный порядок запуска; автоматизировала установку JDBC-драйвера, подготовку Data Directory и передачу временных credentials.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50CD5F-ED0A-4904-90DA-140CD5D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EA0949B-743E-42FC-8F90-030A249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TeamCity с PostgreSQL автоматически разворачивается в отдельном CI-контуре. Полный API- и UI-regression запускается вручную и по nightly-расписанию, не увеличивая время обязательных PR-проверок.</a:t>
            </a:r>
          </a:p>
        </p:txBody>
      </p:sp>
    </p:spTree>
    <p:extLst>
      <p:ext uri="{BB962C8B-B14F-4D97-AF65-F5344CB8AC3E}">
        <p14:creationId xmlns:p14="http://schemas.microsoft.com/office/powerpoint/2010/main" val="18752690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22076FF-F8CE-43A9-9764-2BDE50D9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35B11-A86F-42F3-B2FE-EAE322AA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21C8913-311B-4F33-9A5B-616DEA7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810F671-90D8-44BF-9A30-9211999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85B2969-6FD4-4679-9C23-40032F5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CE822DC-A3F4-414C-9346-29A631CF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48622E2-2064-493B-8E24-2EDC5221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2. DB-клиент для HSQLDB не работал с PostgreSQL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EFCF637-7C98-4FC0-92C4-5DE24AFF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5ED9C1-6C99-4DD3-8C1B-247EB2E4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50EDB93-308E-4463-9875-A6F2C4F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7F2FDE-71FB-493C-9C21-938AC50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87709F-ED09-4AFD-90E7-50F34BA8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D5E8DB5-5894-4343-A8C7-96DA2D44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DB-проверки для встроенной HSQLDB читали данные из backup snapshot TeamCity. После подключения PostgreSQL этот механизм нельзя было использовать напрямую: внешняя база требовала отдельного соединения и другого способа выполнения запросов. Без нового клиента тесты не могли проверять состояние PostgreSQL.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D0642C-532D-4045-95C6-6E6589A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9A95326-BA2E-4C92-A913-BDA70C4F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Добавить поддержку PostgreSQL, не дублируя DB-проверки и не добавляя SQL в сами тесты.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0911A00-D184-4964-9F54-E893127C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35469A8-0D30-4A0A-A7E7-DA4F490E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BB5BCFD-4835-40AB-ACAE-66CCF35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09ACC08-C501-4AFD-8F30-006B086A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разработала отдельные PostgreSQLDatabaseClient и PostgreSQLExecutor, настроила подключение через DSN и перевела транзакции в read-only режим. Фабрика автоматически выбирает PostgreSQL или backup adapter, а тесты используют общий DBRequest и одинаковые verification steps.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212205-BE1B-4213-A6C7-4A31799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A54F3C6-98D5-40C3-A69D-33C8AD9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Одни и те же DB-проверки работают с двумя источниками: HSQLDB читается через безопасный snapshot, а PostgreSQL — через прямое read-only соединение. Тестовую логику и SQL дублировать не пришлось.</a:t>
            </a:r>
          </a:p>
        </p:txBody>
      </p:sp>
    </p:spTree>
    <p:extLst>
      <p:ext uri="{BB962C8B-B14F-4D97-AF65-F5344CB8AC3E}">
        <p14:creationId xmlns:p14="http://schemas.microsoft.com/office/powerpoint/2010/main" val="1107764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8019687-D820-4347-8BE5-C1049D1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0D53A2C-9B9F-428E-BD66-AC446E39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A2FEDC8-0766-442B-9D70-23F3AFB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41338AC-C44D-47BC-8EA2-2F2FE536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2463B2B-49F5-427D-9E41-A39F500F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A619DD-13F6-4D43-BE11-82414055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CF5912-5ED8-4312-A033-4FA920E8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3. UI-тесты падали нестабильно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15BD139-7BF1-46EE-A661-115FBFB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1F6C58-9289-445C-88EF-98D4EBC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400C501-4B52-4534-AEF2-804B28D1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2362CBD-A78C-48A6-B41A-1B2C3E45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A1A779C-08FA-4FE5-9208-DF7F7C2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071AD3-14E8-47DC-A971-26CFE63B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Сценарий создания Build Step то проходил, то падал в браузерных прогонах. Build Step уже создавался в TeamCity, но тест начинал следующую проверку до завершения перехода на страницу Build Steps. Из-за нерегулярного падения причину пришлось искать в несколько этапов.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A19F31-4082-4643-9F35-60377E9A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CE34FF6-A384-4A68-85E2-893DBDF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Найти источник нестабильности и сделать сценарий предсказуемым без фиксированных задержек и бесконечного увеличения timeout.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5C07E97-AA7E-40F6-9996-25A93D0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D5E3C60-4488-4763-8398-37ABEDB1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8E34F29-E0C5-4786-BA14-3C106D2F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C126282-601E-4065-A67E-FC385E4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проанализировала поведение страницы после нажатия Save, уточнила фактический URL перенаправления и добавила ожидание целевой страницы. Только после завершения перехода тест проверяет созданный Build Step.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B2F0ADC-8517-4637-B264-8DCC1EEF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DC60540-A8BC-471F-9F37-7BA5987A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Сценарий синхронизирован с реальным состоянием TeamCity. Проверка больше не стартует во время перехода страницы, а UI-regression использует одинаковую логику ожиданий в Chromium, Firefox и WebKit.</a:t>
            </a:r>
          </a:p>
        </p:txBody>
      </p:sp>
    </p:spTree>
    <p:extLst>
      <p:ext uri="{BB962C8B-B14F-4D97-AF65-F5344CB8AC3E}">
        <p14:creationId xmlns:p14="http://schemas.microsoft.com/office/powerpoint/2010/main" val="8821893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22CDDF5-837E-4531-BA3F-6C7EFA10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E56A851-1729-4D4B-947C-75E1656A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3D2FEB4-AE9D-4F4F-8EDA-A9A0DA0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A7D2A5F-92EC-43DA-9D14-58706A2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A52B49C-B02B-49A6-8E6E-CA5F8D0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F352E3E-A6EB-4861-9738-5AE4311B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B3C70E4-5F7B-4CDD-8991-5D967D5B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"/>
            <a:ext cx="16002000" cy="87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вклад Никиты Снегирева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A474652-0D76-42DB-BE06-E8F5E0F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714500" cy="19050"/>
          </a:xfrm>
          <a:custGeom xmlns:a="http://schemas.openxmlformats.org/drawingml/2006/main">
            <a:rect l="l" t="t" r="r" b="b"/>
            <a:pathLst>
              <a:path w="2286000" h="25400">
                <a:moveTo>
                  <a:pt x="0" y="0"/>
                </a:moveTo>
                <a:lnTo>
                  <a:pt x="2286000" y="0"/>
                </a:lnTo>
                <a:lnTo>
                  <a:pt x="2286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3817BE0-8027-4F34-94CD-4CC55AF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714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B0A36B-8793-41DC-8CCF-493236AF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381125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Три самостоятельных направления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Каждый кейс представлен по методологии STAR: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Situation → Task → Action → Result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CDB53C2-0D2A-431C-91ED-86CC867B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E5AF4E-4898-4A46-8F07-7250057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62D4FA-E0FA-41B0-A2D1-501A3696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20A2A05-E8CE-4A5A-B636-C84A77C5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Формирование тестового плана и scope автоматизации.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EFF242E-6AAD-4C13-B486-DB89005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4C524C4-E894-4E28-8D87-52040D3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CE5644-5F07-4D2C-8C18-37D1BAA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E44D000-36DC-434C-80B3-90F5DC6D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Разработка API regression для ключевых сущностей TeamCity.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5AA4953-3E35-4583-A430-AEF6DBEA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6A51892-A3A9-48EE-9206-4D07B49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8E1C7B-8035-4EB2-9D24-03E7EE6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72587FF-4C8A-450D-84E8-2177BC89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Создание UI-слоя и автоматизация пользовательских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18891927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597F37B-FDF0-4B8C-B397-E38595D0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8588BEA-D090-40AF-AADD-3D4DDC14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244F724-AC5D-43CC-886B-66BF985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09CD81B-8394-415E-8CB4-A0F865A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40421E4-1809-4300-8078-D12D7C2D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32B599-40B3-4A99-B521-8AE31BE2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9AFD91-3AF2-4B32-8749-DED628F4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1. Тестовый план и scope автоматизации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759BCFA-6A11-497E-8ED2-3982905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092A76-0F0D-4CD0-96A2-B313F2DA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8DE646D-02E8-44F5-8FF5-2AC0A66E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387E25-F3B4-4707-B707-E6C693CE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C13AA55-2AFE-421F-A413-52C530D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B257D0-F865-480F-9ADD-E9561C1A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Проект начинался с нуля: отсутствовали согласованный набор проверок, приоритеты автоматизации и единое понимание того, какие возможности TeamCity необходимо покрыть через API и UI.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E7A5B0F-FE08-4EBD-B80B-6A5723C3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D8E1E37-A32B-40F7-AA8D-DE7FA69C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79BC95-1F0F-4772-BA27-CF8467DA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CE59C20-B00F-461C-8154-C15E2ED9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Сформировать основу тестового плана, определить границы автоматизации и разложить ключевые функции TeamCity на конкретные проверяемые сценарии.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B8FF602-BCC0-4E6B-8594-A1F4250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7E00B72-35E4-4429-9675-62A364B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61E37BF-5717-49D4-B743-AB11621F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CC2327C-CDCD-443C-A9E4-654E760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проанализировал основные сущности и пользовательские процессы TeamCity, выделил позитивные, негативные и авторизационные проверки, определил приоритеты и разделил сценарии по уровням API и UI. Результаты зафиксировал в общем тестовом плане команды.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501587D-3EDF-446A-9246-33A9C092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32DCE2E-4341-4877-8AE0-6DCB9124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C7B5F08-EA37-4B8D-BAC1-F6A52840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05B7A38-F398-4F14-809A-1981C870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Команда получила согласованный scope и основу для последовательной реализации regression. Разработка тестов велась по единой структуре, охватывающей проекты, build configurations, пользователей, access tokens, роли и права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13997232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16A4733-46B6-4888-8DD4-4EB45D1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2AC7708-2FB8-4DBA-9B7A-ED869232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B68D654-E54C-4C76-B4CB-E9651DD2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A6F8570-8442-472C-ADAC-22EA552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5F2DFFB-4CD9-4E83-84ED-8815752E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C76C9B-288C-438B-816F-2C3CCE2B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F4555B-85DA-498A-BC9B-1202A60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2. API regression ключевых сущностей TeamCity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3ACBDAD-BC32-47B2-A689-6AE808AF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36277A2-8F05-4F96-8641-758946B4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521FAFD-E48F-4DA0-B8F8-62AA5C8E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13D159C-534C-44B7-8B54-78883A6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52D2DB-9A57-4083-99AB-42B0FF35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89DF3BC-ADE6-4DE8-8BF6-7FE26E2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В проекте существовал базовый каркас API-фреймворка, но не было системного набора проверок жизненного цикла сущностей, негативных сценариев и разграничения прав доступа.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7A80409-6515-4D8E-A892-14ED38E1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62FDA3B-264D-4FC0-9F48-3E53A15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C75767-3130-4A8E-A0F4-ECA1B756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59EDA29-AC49-4B87-AE56-7720375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Расширить API-автоматизацию и создать переиспользуемые проверки основных функций TeamCity.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2743C5B-C23F-4795-99CD-74D5CA93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B3BD7FD-CA18-40CE-9B9F-698979F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4E3E3E-8AE6-4716-95BB-5BB7C211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7AED582-2A48-4979-A7D6-36AE163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разработал DTO, fixtures, endpoints и API steps для проектов, build configurations, пользователей, access tokens, ролей и permissions. Реализовал проверки создания, получения, изменения и удаления сущностей, негативные и авторизационные сценарии, генерацию тестовых данных и последующую очистку созданных объектов.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87D2A5F-F614-4CFF-97E4-7A9823C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3300A1C-7E32-477C-ACAD-79CB77FA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8B8F77-6195-42B9-A219-D45E615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3730F66-CFFF-41FF-A326-4F420638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Проект получил полноценный API regression для ключевых сущностей TeamCity. Общие модели, fixtures и steps стали переиспользуемой основой для дальнейшего расширения набора автотестов.</a:t>
            </a:r>
          </a:p>
        </p:txBody>
      </p:sp>
    </p:spTree>
    <p:extLst>
      <p:ext uri="{BB962C8B-B14F-4D97-AF65-F5344CB8AC3E}">
        <p14:creationId xmlns:p14="http://schemas.microsoft.com/office/powerpoint/2010/main" val="8707661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8868962-BCA4-42F1-83FD-947CC3B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1899913-8493-4B56-8455-4046FFDC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A1D52D6-D55B-4DC6-9616-D4953B88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B6051F9-65F9-49BD-B8F2-586C986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ABF2474-AF97-4C27-840A-DD73D7D6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37A540-D88C-48D3-91C7-DD482A32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EDC7D0-3F5A-48B8-B0C0-EEAFA17F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3. UI-слой и пользовательские сценарии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38D1C27-6F83-42CA-B125-5841822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4F76BEF-937A-4123-967B-C5AF9701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4529210-7F2F-4CC7-A5F2-695F3E9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6BAA3A-34E7-4600-90E9-1A5B150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00B6BA-11E4-4C21-B439-69AEB10A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821F2F-172C-4482-B09D-056A161E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API-проверки подтверждали работу серверной части, но не проверяли реальные действия пользователя в интерфейсе TeamCity. Отдельного UI-слоя, Page Objects и общего механизма браузерной авторизации не было.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B718803-41D6-493C-BE78-4AA44030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9644CB6-0E3A-4FCD-8F98-CD95CA6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CAB0EDF-294B-45C6-A5E4-A04E393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10DE343-45C1-44A3-8C63-2D74F41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Создать масштабируемую основу UI-автоматизации и покрыть ключевые пользовательские сценарии TeamCity.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CFB51F-DEEF-428E-8F16-EB9B8923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6CFBB58-5770-40A2-96BB-E76D9FA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18331B-EC37-4E1E-AA1E-4E3181E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DC103FF-BC2C-440E-A56D-DA2FC765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построил UI-слой на Playwright: разработал BasePage, Page Objects, общие компоненты, маршруты, fixtures и механизм управления пользовательскими сессиями. Автоматизировал вход, создание проектов и пользователей, удаление пользователей, создание access tokens и проверку ограничений для пользователя с ограниченными правами.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5BA8794-277D-4B55-8F1B-8090818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119C354-5AA1-424A-9283-995A3825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7258922-36DB-4B79-B321-8AA37BC4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FABDCC-E66D-4CB4-A67E-F66F8E24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В проекте появился переиспользуемый UI-фреймворк, а основные пользовательские операции вошли в общий regression. Новые UI-сценарии можно добавлять через готовые Page Objects, fixtures и механизмы авторизации.</a:t>
            </a:r>
          </a:p>
        </p:txBody>
      </p:sp>
    </p:spTree>
    <p:extLst>
      <p:ext uri="{BB962C8B-B14F-4D97-AF65-F5344CB8AC3E}">
        <p14:creationId xmlns:p14="http://schemas.microsoft.com/office/powerpoint/2010/main" val="4086973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22CDDF5-837E-4531-BA3F-6C7EFA10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E56A851-1729-4D4B-947C-75E1656A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3D2FEB4-AE9D-4F4F-8EDA-A9A0DA0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A7D2A5F-92EC-43DA-9D14-58706A2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A52B49C-B02B-49A6-8E6E-CA5F8D0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F352E3E-A6EB-4861-9738-5AE4311B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B3C70E4-5F7B-4CDD-8991-5D967D5B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"/>
            <a:ext cx="16002000" cy="87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Конкретные проблемы, решённые Никитой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A474652-0D76-42DB-BE06-E8F5E0F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714500" cy="19050"/>
          </a:xfrm>
          <a:custGeom xmlns:a="http://schemas.openxmlformats.org/drawingml/2006/main">
            <a:rect l="l" t="t" r="r" b="b"/>
            <a:pathLst>
              <a:path w="2286000" h="25400">
                <a:moveTo>
                  <a:pt x="0" y="0"/>
                </a:moveTo>
                <a:lnTo>
                  <a:pt x="2286000" y="0"/>
                </a:lnTo>
                <a:lnTo>
                  <a:pt x="2286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3817BE0-8027-4F34-94CD-4CC55AF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714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B0A36B-8793-41DC-8CCF-493236AF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381125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Три технических STAR-кейса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Формат каждой истории: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Симптом → задача → исправление → подтверждение результата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CDB53C2-0D2A-431C-91ED-86CC867B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E5AF4E-4898-4A46-8F07-7250057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62D4FA-E0FA-41B0-A2D1-501A3696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20A2A05-E8CE-4A5A-B636-C84A77C5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UI-тестам требовалась авторизация под пользователями с разными ролями.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EFF242E-6AAD-4C13-B486-DB89005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4C524C4-E894-4E28-8D87-52040D3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CE5644-5F07-4D2C-8C18-37D1BAA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E44D000-36DC-434C-80B3-90F5DC6D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Объекты, созданные через UI, могли оставаться после завершения тестов.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5AA4953-3E35-4583-A430-AEF6DBEA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6A51892-A3A9-48EE-9206-4D07B49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8E1C7B-8035-4EB2-9D24-03E7EE6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72587FF-4C8A-450D-84E8-2177BC89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Успешное действие в интерфейсе не подтверждало сохранение данных в TeamCity.</a:t>
            </a:r>
          </a:p>
        </p:txBody>
      </p:sp>
    </p:spTree>
    <p:extLst>
      <p:ext uri="{BB962C8B-B14F-4D97-AF65-F5344CB8AC3E}">
        <p14:creationId xmlns:p14="http://schemas.microsoft.com/office/powerpoint/2010/main" val="18891927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A9C4D1B-7D31-4BF7-B43C-2561667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B2BB275-21C9-4419-8E4C-97684675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595D6FF-E282-4FD7-8423-E9614E6A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7501770-820F-49A3-B4F7-9AF2548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DD40C07-CB68-4C2F-8A3B-93DF24CD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B5CF00-5943-4602-837B-0A6BC0B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64DBFF-619B-421B-B2E0-FEF4591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1. UI-тестам требовались сессии разных пользователей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DC4EA1E-5F3B-459C-B2CD-E6711A3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99A461-BD43-4347-8BA8-E0ABC91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46198BE-A92E-4787-9F88-965CF14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0675997-28C8-4A51-8CD7-BB5F8325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8F2E6BD-897E-43C4-9809-E4D9F4FD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24DAC50-1820-4CD8-B2AC-A78D5EC0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Для проверки permissions UI-тесты должны были выполняться как от имени администратора, так и от имени пользователей с ограниченными правами. Повторная авторизация через форму входа усложняла сценарии, дублировала шаги и связывала проверку прав с работой страницы логина.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D7E964-84CF-46CF-BA71-64616EA4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78C65B9-AE97-4593-807C-02DFC42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Создать единый механизм авторизации для UI-тестов и обеспечить изоляцию пользовательской сессии в каждом сценарии.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D67E437-5EAB-4168-BC3C-236F34E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273440-55A8-489B-B859-1EE850A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D062C44-385F-4C04-8313-F3C78AD7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A924DEC-3B0E-4D68-9E47-1E512BE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разработал UiAuthClient, который получает TCSESSIONID по credentials пользователя и добавляет cookie в Playwright context. Для выбора сессии добавил markers admin_session и user_session, а временное состояние пользователей изолировал через SessionStorage.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0BD99F0-3204-4D68-8F35-13E98AC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F68B701-78FA-4EE5-943F-B729C984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UI-тесты могут декларативно запускаться с нужной ролью без повторения шагов входа. Каждый сценарий получает отдельную управляемую сессию, а проверки permissions стали короче и предсказуемее.</a:t>
            </a:r>
          </a:p>
        </p:txBody>
      </p:sp>
    </p:spTree>
    <p:extLst>
      <p:ext uri="{BB962C8B-B14F-4D97-AF65-F5344CB8AC3E}">
        <p14:creationId xmlns:p14="http://schemas.microsoft.com/office/powerpoint/2010/main" val="13894402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5EA03B7-6013-40C8-8498-36BED90A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3CA0E29-B584-415C-BAAD-CD7BFFEA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B8F5A65-2BE3-4D67-A716-51886BEF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D73DBBF-7F86-496D-802C-13BB467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5467470-829C-401A-9677-4EA3E60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1D3D23-12CA-4CD6-9E40-E56E840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DFFF9C-40EF-4A42-9262-C1BC6DA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2. UI-тесты оставляли созданные данные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ED44343-6F34-48BA-8226-80FD95B0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77D6C4-6A2D-4A4D-899B-247F890B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380377E-B9E2-41EC-800F-FA85444A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7B524C2-182B-49E7-8763-BF82947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F819FF9-F6E9-4857-A0F6-DE929291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FBA27F0-9100-417A-8683-30EE3D50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Проекты и пользователи, созданные непосредственно через интерфейс, не проходили через стандартные API-fixtures. Из-за этого механизм очистки мог не знать о них, а оставшиеся данные влияли на повторные и параллельные запуски.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C83551B-673B-4D89-AC7D-7A4B2094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574D9AB-942E-472A-8151-397286D9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Подключить сущности, создаваемые через UI, к общей системе регистрации и очистки тестовых данных.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22FDE49-F594-413E-956F-155A8BC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90E486F-1B99-40B5-9A36-4376172D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96174FA6-C3E1-4BCD-960D-5DC61FE3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30AE704-A4BE-45A0-BDE4-164CA10A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добавил marker entity_will_be_created, который регистрирует модель будущей сущности в CreatedObjectsRegistry до выполнения действия в браузере. Также расширил cleanup для проектов, пользователей, access tokens и связанных объектов.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85FE832-D84E-4062-A7FC-CC48E2E4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4F27279-5D73-4773-98B2-D0BC6A9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Объекты, созданные через UI, автоматически удаляются после теста. Повторные запуски начинаются без оставшихся данных, а риск конфликтов между сценариями снизился.</a:t>
            </a:r>
          </a:p>
        </p:txBody>
      </p:sp>
    </p:spTree>
    <p:extLst>
      <p:ext uri="{BB962C8B-B14F-4D97-AF65-F5344CB8AC3E}">
        <p14:creationId xmlns:p14="http://schemas.microsoft.com/office/powerpoint/2010/main" val="11425618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CC6F406-F80D-4FEB-9004-FB64781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6F3A94C-914F-450D-9EE7-BE0308DC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D3A84BF-E3C3-4F48-AACA-8839DB9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BF1FB58-771B-4890-A011-8650171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49EBD4A-A071-48ED-9267-DD8A4B5A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3829865-5486-45B0-AC23-843A8B88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FDC5E6-8511-4A02-B406-B94A8C6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3. UI-проверка не подтверждала сохранение данных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ADEA924-44BB-4B62-BAD9-699D5233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AB6D0F-8287-4347-9290-2FC1A1EE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463C913-C94F-4B1A-A674-2E6C80BB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CEFF46C-D4DE-43E9-9C41-8DDD02A2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EF4B92-8A67-4693-A4BD-D812778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CA34EE0-DE1B-4F99-83DB-0941E4A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Сообщение об успехе или появление элемента на странице не гарантировало, что TeamCity действительно сохранил изменения во внутреннем состоянии. UI-тест мог пройти, даже если данные отображались временно или сохранились некорректно.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04D656-9E6F-47B9-BCF7-57D86B81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2562A63-87ED-4649-B3B9-0761032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Добавить независимую проверку результата ключевых UI-операций.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3978308-46FF-4A61-9730-ED3E82CD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898CE7D-CAA7-4F25-8F5F-9C5F963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D2A4338-A127-443F-BE1F-38B07755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3E59E11-61A9-457D-A300-593F00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связал UI-сценарии с ApiManager: после создания проекта или пользователя тест получает сущность через REST API и сравнивает её с исходными данными. Созданный access token проверяется через API, а после удаления пользователя дополнительно подтверждается его отсутствие.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F2B9013-0DC0-4C52-95A8-F68FC09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3C8DBA0-CE63-4A11-86B8-F7E7517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UI-тесты проверяют не только отображение результата в браузере, но и фактическое состояние TeamCity. Ложноположительные результаты исключены, а место ошибки легче определить по уровню, на котором разошлись данные.</a:t>
            </a:r>
          </a:p>
        </p:txBody>
      </p:sp>
    </p:spTree>
    <p:extLst>
      <p:ext uri="{BB962C8B-B14F-4D97-AF65-F5344CB8AC3E}">
        <p14:creationId xmlns:p14="http://schemas.microsoft.com/office/powerpoint/2010/main" val="7524445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74C7D62-BF06-4EC0-A592-5691DA49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BAE7D4D-E497-45FA-8973-610EE943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8C6CBA2-7295-4BF4-8175-5D511D4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EF2AF07-3E73-4F8F-ABD8-DAC93A1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051D817-DD2E-497C-BDFC-ABA17C9A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907B109-6C58-4CF7-B5DF-6E536B1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AE0090-479A-426B-91EA-30E0637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"/>
            <a:ext cx="16002000" cy="87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вклад Петра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B77F868-619C-4E60-A5D2-F3FCFDE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714500" cy="19050"/>
          </a:xfrm>
          <a:custGeom xmlns:a="http://schemas.openxmlformats.org/drawingml/2006/main">
            <a:rect l="l" t="t" r="r" b="b"/>
            <a:pathLst>
              <a:path w="2286000" h="25400">
                <a:moveTo>
                  <a:pt x="0" y="0"/>
                </a:moveTo>
                <a:lnTo>
                  <a:pt x="2286000" y="0"/>
                </a:lnTo>
                <a:lnTo>
                  <a:pt x="2286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D181E50-A6E7-4E9D-9442-C0C25CC2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714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390B374-FCD1-417B-95D7-2751A7CE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381125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Три самостоятельных направления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Каждый кейс представлен по методологии STAR: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Situation → Task → Action → Result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A093AB0-FA75-41AB-BE10-00CE6596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8D8505-74AE-4A06-AEDD-8143F164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877D5CB-6072-4B5F-B85E-0D7522CF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972A92B-E05E-42A4-A136-485D32C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Покрытие API-тестами API-домена Build Steps.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F44D1D1-B6B8-4D92-B3B3-0C4493E5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DF8B65A-BF8D-4337-92BB-1DF7A99C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B83524E-F758-4506-A16F-52ECEB8D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E45D24E-0518-40A7-B0BC-9F0D47D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Разработка переиспользуемой генерации тестовых данных для Build Steps.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8CB70E2-52B8-4C4A-92E5-571391D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51AD491-5A88-4839-A0CB-A8BBB3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B9B7332-B160-420B-805F-15A960C4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62CB7EC-C223-4025-8D49-AB3C9F6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Добавление UI-сценария создания Command Line Build Step.</a:t>
            </a:r>
          </a:p>
        </p:txBody>
      </p:sp>
    </p:spTree>
    <p:extLst>
      <p:ext uri="{BB962C8B-B14F-4D97-AF65-F5344CB8AC3E}">
        <p14:creationId xmlns:p14="http://schemas.microsoft.com/office/powerpoint/2010/main" val="12655549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ECE24B9-2487-493A-A681-E997B9E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39424E8-9C10-42F7-82F2-F1C3D880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B4C57FC-E392-4EE1-AC57-95DC762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21DC150-3BB6-4633-AD38-5961E07A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2271677-E2B6-4E33-B395-AB7F7F7D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0A5061-96C4-4DDE-8999-46E8B44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62C9252-F268-4E97-9A80-C50D3AE1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1. Покрытие API-тестами Build Steps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1D10715-E475-49CB-861A-482C2498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E4C361-9A7D-44E4-8496-251B482E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71A9A02-3A4F-4279-A385-FC2CEF9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E47FCD0-15EF-436F-9C0A-C9451E38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F4925A12-C4E8-454D-9B10-73178FB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5E2BB8-6EBE-4834-9886-D4B88E05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В проекте уже существовала общая API-архитектура основных сущностей TeamCity, но Build Steps не были системно покрыты. Build Step является вложенной сущностью Build Configuration, содержит свой набор properties и получает идентификатор от TeamCity.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C3D6A60-2C41-455E-8F5F-90C365CD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00513D4-71F2-4AD3-9E4B-5671EAF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DAD7584-537C-4DF5-999C-54C00C0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3F6F205-C7F1-4F2A-8F23-4AEA357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Добавить полноценное API-покрытие Build Steps и встроить его в существующую архитектуру проекта без дублирования уже реализованных механизмов.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50AE79A-4271-4226-86A2-4E471F2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3ED5938-96ED-432F-80EF-9A8670EE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3CEED4A-6A91-4E41-A7E3-2BFF4DD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317FF1F-D8FD-4910-8064-F47CE40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разработал request- и response-модели для Build Steps, добавил необходимые endpoints и расширил API steps. Реализовал fixtures и factory для подготовки тестовых данных, а также сценарии создания, получения, изменения и удаления Build Step. Дополнительно добавил проверку нескольких Build Steps внутри одной configuration и негативный сценарий создания Build Step для несуществующей Build Configuration.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0558E34-3492-412C-B448-BA69974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1F8002B-7403-48D4-9A98-3132C43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55E3313-F704-46EB-AC76-95359540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E4E870C-A0CD-48C4-8978-FEDBBCA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Build Steps стали полноценной частью общего API regression. Новые сценарии используют существующие механизмы запросов, моделей, fixtures и assertions, поэтому дальнейшее расширение покрытия не требует создания отдельной инфраструктуры.</a:t>
            </a:r>
          </a:p>
        </p:txBody>
      </p:sp>
    </p:spTree>
    <p:extLst>
      <p:ext uri="{BB962C8B-B14F-4D97-AF65-F5344CB8AC3E}">
        <p14:creationId xmlns:p14="http://schemas.microsoft.com/office/powerpoint/2010/main" val="5722144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3886BA4-F2BF-4ECE-A4EF-EDE4D851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4B4ACC3-5AB9-4EEA-B1FA-B7E2A67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F2AC156-C739-47C7-A207-25CFBCD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661D9B6-EE01-45BA-B69E-F8889D95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EAA6DED-204B-4E60-9D2A-CDD3BF6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A3BD285-0D5C-4610-A682-DCDF2ED0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79B972-F6BB-45EA-95A7-465EEC4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2. Генерация тестовых данных для Build Steps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B2EC15C-482B-4E0E-8FC4-C5878591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19EEBD9-E898-48F6-BBBE-5220C93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5FD045B-746B-4901-831A-D4ECC6B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C29BFA-FAD5-44F4-8E16-F012DCE7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0D5FE9-F5AC-4D42-861A-508C260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13274E-082F-41E3-A1ED-99E1172D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CreateBuildStepRequest содержит вложенную структуру BuildStepProperties со списком BuildStepProperty. Обычная случайная генерация Pydantic-модели могла создать технически валидный объект, но не гарантировала, что набор properties будет допустимым для конкретного ранера.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7E061CE-4390-4A43-AE09-DE9018D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BB2C10E-A0AB-4B9E-B7B7-31DDF5B5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4169C84-AC13-4CB9-BBF7-BFBB7D9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E6A252E-F37C-4469-81DD-6B011E6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Организовать генерацию тестовых данных так, чтобы сохранить общий подход проекта к созданию моделей и одновременно получать валидные данные для позитивных Build Step сценариев.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B97EA34-30BA-4BDD-B8AA-3A193436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BD8F5DC-AA3D-41A8-935E-A28EA4AE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4CD3DB5-94FD-4B9B-9A4B-6F0A88C8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90D5243-4BEE-4394-956A-5C9A0A90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изучил существующий механизм GeneratingRule и разделил автоматически генерируемые и доменно-зависимые данные. Простые поля модели продолжают генерироваться автоматически, а Build Step properties формируются из контролируемого набора допустимых значений. Сборку итогового request вынес в переиспользуемый fixture/factory.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56EB619-AC6B-4E1F-A952-D862B3F6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D87C1223-68A9-437F-9BD3-99DA4663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C93A58F-75CA-4174-B4A5-4C67695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BF4BF05-79A5-4E7E-9BB3-5C51881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Тесты получили вариативные, но валидные данные. Один механизм подготовки request используется для create, update и сценариев с несколькими Build Steps, а сами тесты не содержат дублирующей логики создания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8448462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6F13F3B-AD74-41EB-98F0-0D5BC86E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9371D1E-249C-478A-A46E-625A1B6E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B08636A-1306-4E20-ABCC-BC0CAA3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C21A3C2-5481-4894-9EE5-86A0C14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46BDE7F-6A7B-458A-B933-43FCD623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59BA82D-A6E7-40D0-810A-49B13A2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90AFDC-28DC-4309-8CF3-EDDF5D88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7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Личный кейс 3. UI-сценарий создания Command Line Build Step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0F0F1FE-65E6-442F-8511-994A131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F93E6E5-67E0-42B0-9144-6840CEC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5BEDCD9-DE2E-4B4E-AC12-C7417924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F740E23-A7C5-4327-85FB-BD48F728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1BC828-AB2C-4C3D-97AD-96EE3E4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419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E613179-5B5A-4DDF-9A5C-4359B26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85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API-тесты проверяли работу Build Steps на серверном уровне, но пользовательский сценарий создания Command Line Build Step через интерфейс TeamCity оставался непокрытым. Страница создания имела собственную навигацию и служебные параметры TeamCity.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57C2819-3123-4008-82DB-F2F9C464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524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7B9C427-7904-4451-96BC-AD3E9875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3495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EBD4AE8-DAB4-4D7E-93A8-072880DD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514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30BBC98-4E0E-40F2-8A2F-8805F1DE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814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Добавить UI-сценарий создания Build Step и встроить его в существующую Page Object архитектуру.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F0EF21D-72C3-4EED-91C8-EFD77DE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6197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4ADE80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1400E5-BEBB-4491-8A93-E4819202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5911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C299780-2FDB-4EA9-B38B-28A5D8D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6102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D2897B9-9B0A-4F1D-899D-CE2720E2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6076950"/>
            <a:ext cx="1562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исследовал поведение формы создания Build Step, разработал CreateCommandLineBuildStepPage и вынес построение URL в общий механизм маршрутов TeamCity. Для данных переиспользовал существующую модель CreateBuildStepRequest, чтобы UI- и API-уровни работали с единым представлением Build Step.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C1442EF-33E0-4CA9-8C34-F11F309C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715250"/>
            <a:ext cx="38100" cy="1714500"/>
          </a:xfrm>
          <a:custGeom xmlns:a="http://schemas.openxmlformats.org/drawingml/2006/main">
            <a:rect l="l" t="t" r="r" b="b"/>
            <a:pathLst>
              <a:path w="50800" h="2286000">
                <a:moveTo>
                  <a:pt x="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F59E0B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A37330D-DCE3-49A3-AC4B-56290E0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686675"/>
            <a:ext cx="38100" cy="174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D2C2377-E61D-4F03-A812-533C731E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7705725"/>
            <a:ext cx="3810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877839EB-796D-433E-A63E-37738086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8172450"/>
            <a:ext cx="15621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В regression появился пользовательский сценарий создания Command Line Build Step. Детали навигации TeamCity изолированы внутри Page Object и routing-слоя, а build-domain модели переиспользуются между API- и UI-проверками.</a:t>
            </a:r>
          </a:p>
        </p:txBody>
      </p:sp>
    </p:spTree>
    <p:extLst>
      <p:ext uri="{BB962C8B-B14F-4D97-AF65-F5344CB8AC3E}">
        <p14:creationId xmlns:p14="http://schemas.microsoft.com/office/powerpoint/2010/main" val="11101385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74C7D62-BF06-4EC0-A592-5691DA49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BAE7D4D-E497-45FA-8973-610EE943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8C6CBA2-7295-4BF4-8175-5D511D4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EF2AF07-3E73-4F8F-ABD8-DAC93A1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051D817-DD2E-497C-BDFC-ABA17C9A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907B109-6C58-4CF7-B5DF-6E536B1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AE0090-479A-426B-91EA-30E0637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9100"/>
            <a:ext cx="16002000" cy="87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19"/>
              </a:lnSpc>
              <a:buNone/>
              <a:defRPr sz="300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Конкретные проблемы, решённые Петром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B77F868-619C-4E60-A5D2-F3FCFDE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714500" cy="19050"/>
          </a:xfrm>
          <a:custGeom xmlns:a="http://schemas.openxmlformats.org/drawingml/2006/main">
            <a:rect l="l" t="t" r="r" b="b"/>
            <a:pathLst>
              <a:path w="2286000" h="25400">
                <a:moveTo>
                  <a:pt x="0" y="0"/>
                </a:moveTo>
                <a:lnTo>
                  <a:pt x="2286000" y="0"/>
                </a:lnTo>
                <a:lnTo>
                  <a:pt x="2286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D181E50-A6E7-4E9D-9442-C0C25CC2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7145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390B374-FCD1-417B-95D7-2751A7CE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381125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Три технических STAR-кейса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Формат каждой истории:</a:t>
            </a:r>
          </a:p>
          <a:p xmlns:a="http://schemas.openxmlformats.org/drawingml/2006/main">
            <a:pPr algn="l">
              <a:lnSpc>
                <a:spcPts val="3079"/>
              </a:lnSpc>
              <a:buNone/>
              <a:defRPr sz="1500">
                <a:solidFill>
                  <a:srgbClr val="7F91B4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7F91B4"/>
                </a:solidFill>
                <a:latin typeface="Inter"/>
                <a:ea typeface="Inter"/>
                <a:cs typeface="Inter"/>
              </a:rPr>
              <a:t>Симптом → задача → исправление → подтверждение результата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A093AB0-FA75-41AB-BE10-00CE6596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8D8505-74AE-4A06-AEDD-8143F164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877D5CB-6072-4B5F-B85E-0D7522CF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972A92B-E05E-42A4-A136-485D32C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Server-generated ID Build Step ломал сравнение request и response.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F44D1D1-B6B8-4D92-B3B3-0C4493E5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DF8B65A-BF8D-4337-92BB-1DF7A99C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B83524E-F758-4506-A16F-52ECEB8D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E45D24E-0518-40A7-B0BC-9F0D47D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Общий генератор не гарантировал валидные Build Step properties.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8CB70E2-52B8-4C4A-92E5-571391D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86000"/>
            <a:ext cx="5143500" cy="2857500"/>
          </a:xfrm>
          <a:custGeom xmlns:a="http://schemas.openxmlformats.org/drawingml/2006/main">
            <a:rect l="l" t="t" r="r" b="b"/>
            <a:pathLst>
              <a:path w="6858000" h="3810000">
                <a:moveTo>
                  <a:pt x="381000" y="0"/>
                </a:moveTo>
                <a:lnTo>
                  <a:pt x="6477000" y="0"/>
                </a:lnTo>
                <a:cubicBezTo>
                  <a:pt x="6687420" y="0"/>
                  <a:pt x="6858000" y="170580"/>
                  <a:pt x="6858000" y="381000"/>
                </a:cubicBezTo>
                <a:lnTo>
                  <a:pt x="6858000" y="3429000"/>
                </a:lnTo>
                <a:cubicBezTo>
                  <a:pt x="6858000" y="3639420"/>
                  <a:pt x="6687420" y="3810000"/>
                  <a:pt x="6477000" y="3810000"/>
                </a:cubicBezTo>
                <a:lnTo>
                  <a:pt x="381000" y="3810000"/>
                </a:lnTo>
                <a:cubicBezTo>
                  <a:pt x="170580" y="3810000"/>
                  <a:pt x="0" y="3639420"/>
                  <a:pt x="0" y="3429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51AD491-5A88-4839-A0CB-A8BBB3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257425"/>
            <a:ext cx="5143500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B9B7332-B160-420B-805F-15A960C4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505075"/>
            <a:ext cx="46101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39"/>
              </a:lnSpc>
              <a:buNone/>
              <a:defRPr sz="180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62CB7EC-C223-4025-8D49-AB3C9F6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952750"/>
            <a:ext cx="46101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B9C5DD"/>
                </a:solidFill>
                <a:latin typeface="Inter"/>
                <a:ea typeface="Inter"/>
                <a:cs typeface="Inter"/>
              </a:rPr>
              <a:t>UI login test падал из-за некорректно подготовленного локального TeamCity.</a:t>
            </a:r>
          </a:p>
        </p:txBody>
      </p:sp>
    </p:spTree>
    <p:extLst>
      <p:ext uri="{BB962C8B-B14F-4D97-AF65-F5344CB8AC3E}">
        <p14:creationId xmlns:p14="http://schemas.microsoft.com/office/powerpoint/2010/main" val="12655549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4B28DA-52F6-4E19-844A-AE04F2E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72335DC-2EAC-42D4-B186-703D96A9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0F8A0DA-2A52-4D6A-82F8-799B9CDB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B86898B-62B4-477F-82A9-9C461224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121307D-D948-4C60-80EB-BB65195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44F16C-C49A-4315-BCF7-D529A6D7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06DAC9-CB32-4085-A268-8F072030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1. Server-generated ID ломал сравнение моделей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0FD18A9-80A1-4506-89B5-DECFA6FB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37778C-9F8C-4359-A285-D1238C0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B878C9F-F28F-45A6-B2EE-44A9E00C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3DCCA3-E8FD-4F02-BC17-D98ED809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00C658D-1905-4AFF-946D-40AC938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31D7BC8-D4E4-4374-8FE9-3AA6E799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После создания Build Step TeamCity самостоятельно присваивал ему идентификатор вида RUNNER_*. Этого ID не было в исходном request, поэтому универсальное сравнение request и response считало корректно созданный Build Step различающимся.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10C1F4D-10EE-4D70-891A-FC20A81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E1269A3-2F02-452D-B521-A59F8A7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Понять источник расхождения и изменить проверку так, чтобы учитывать контракт TeamCity, не убирая валидацию response.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4DDD138-7E0A-4FFC-BACD-2EAE476F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7432231-67D6-47BE-AB8C-02A8CBD2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9657B27-3F91-46E9-854F-FFACB5A1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C3A52A2-A411-4D31-B417-9E1910E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выяснил, что идентификатор Build Step принадлежит серверной стороне и не должен сравниваться с исходным request. Исключил id из общего сравнения моделей, сохранив проверку остальных переданных полей. Наличие корректного ID в response проверяется отдельно.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2920FA9-1C39-44ED-B9BE-CFCD93C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165D73D-47A5-487B-9359-33DAD1E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Тест перестал давать ложные падения на корректном поведении TeamCity. Проверка response не была ослаблена: клиентские поля сравниваются с request, а созданные на сервере ID валидируется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8404665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3795D04-C9A6-4555-AB4A-96F83B5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BEA48-3B21-4D9C-AB04-6765BFE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456DE1F-6561-42B3-8037-65A3582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E826743-26EF-44BC-AFCF-11EFCB86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936D8EB-2D78-43D7-B3BB-14A797E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192A2E-8810-48C2-B662-D4356076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0B4DEE-E7BE-4543-8662-83B4BFC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128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325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2. Случайная генерация создавала неподходящие Build Step properties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5FA3553-DE7C-412B-934C-1E4CC42F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24AB9A-7525-406F-9EFE-CC48F7C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8EF1DD7-3CAC-472F-B113-B8DA969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E64D7E1-EC6B-4F67-ACBE-0A41CB29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21DA70-4611-4156-ABAA-6D06F33A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5A2E548-A2CB-4B4D-BA9B-6EDFE9EF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Общий генератор мог создать корректную с точки зрения Pydantic структуру CreateBuildStepRequest, но случайный набор BuildStepProperty не обязательно являлся допустимой конфигурацией ранера. В результате позитивный тест мог падать из-за невалидных тестовых данных.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20B32DE-5F5C-4267-97F5-A09C3A9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5AB5577-DBB3-48D3-9C93-602ED7BD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Сохранить автоматическую генерацию моделей, но исключить случайные невалидные комбинации доменно-зависимых properties.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A39B50B-D320-4326-B88A-5CFE5299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F10B25D-F981-43A3-B866-50294B7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B542632-76FF-4B23-A273-0D7D2BB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FBC0384-B04D-48DE-A9C8-95C717FF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отделил универсальную генерацию простых полей от данных, зависящих от TeamCity. Build Step properties стал формировать из заранее определённого пула валидных значений, а создание итоговой модели вынес в общий fixture/factory.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B032914-9C64-4699-A200-F707CA74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370558F-6170-40AF-844F-59D1239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Позитивные тесты перестали зависеть от случайных невалидных конфигураций. При этом сохранилась вариативность тестовых данных и возможность переиспользовать один механизм генерации в разных Build Step сценариях.</a:t>
            </a:r>
          </a:p>
        </p:txBody>
      </p:sp>
    </p:spTree>
    <p:extLst>
      <p:ext uri="{BB962C8B-B14F-4D97-AF65-F5344CB8AC3E}">
        <p14:creationId xmlns:p14="http://schemas.microsoft.com/office/powerpoint/2010/main" val="17617979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AFDC7B1-A81D-4203-914F-503168C5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28575"/>
          </a:xfrm>
          <a:custGeom xmlns:a="http://schemas.openxmlformats.org/drawingml/2006/main">
            <a:rect l="l" t="t" r="r" b="b"/>
            <a:pathLst>
              <a:path w="24384000" h="38100">
                <a:moveTo>
                  <a:pt x="0" y="0"/>
                </a:moveTo>
                <a:lnTo>
                  <a:pt x="24384000" y="0"/>
                </a:lnTo>
                <a:lnTo>
                  <a:pt x="24384000" y="38100"/>
                </a:lnTo>
                <a:lnTo>
                  <a:pt x="0" y="3810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0D4FF">
                  <a:alpha val="100000"/>
                </a:srgbClr>
              </a:gs>
              <a:gs pos="100000">
                <a:srgbClr val="7B5CFF">
                  <a:alpha val="100000"/>
                </a:srgbClr>
              </a:gs>
            </a:gsLst>
            <a:lin ang="0"/>
          </a:gra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59190B9-7852-4D41-9949-C5073796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575"/>
            <a:ext cx="18288000" cy="57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64BEE3F-F55D-405F-B233-9D43A6E2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381000" cy="19050"/>
          </a:xfrm>
          <a:custGeom xmlns:a="http://schemas.openxmlformats.org/drawingml/2006/main">
            <a:rect l="l" t="t" r="r" b="b"/>
            <a:pathLst>
              <a:path w="508000" h="25400">
                <a:moveTo>
                  <a:pt x="0" y="0"/>
                </a:moveTo>
                <a:lnTo>
                  <a:pt x="508000" y="0"/>
                </a:lnTo>
                <a:lnTo>
                  <a:pt x="508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BB9CCA4-7D98-46B7-A340-43B4126E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381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F79B769-2C2C-4DD0-82CB-820FA783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81000"/>
            <a:ext cx="19050" cy="381000"/>
          </a:xfrm>
          <a:custGeom xmlns:a="http://schemas.openxmlformats.org/drawingml/2006/main">
            <a:rect l="l" t="t" r="r" b="b"/>
            <a:pathLst>
              <a:path w="25400" h="508000">
                <a:moveTo>
                  <a:pt x="0" y="0"/>
                </a:moveTo>
                <a:lnTo>
                  <a:pt x="25400" y="0"/>
                </a:lnTo>
                <a:lnTo>
                  <a:pt x="25400" y="508000"/>
                </a:lnTo>
                <a:lnTo>
                  <a:pt x="0" y="508000"/>
                </a:lnTo>
                <a:close/>
              </a:path>
            </a:pathLst>
          </a:custGeom>
          <a:solidFill xmlns:a="http://schemas.openxmlformats.org/drawingml/2006/main">
            <a:srgbClr val="00D4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140CA08-6821-4795-8ADA-6EA5DEC9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352425"/>
            <a:ext cx="190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07FD2B9-4613-4D43-BEE3-D3A522C9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"/>
            <a:ext cx="160020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040"/>
              </a:lnSpc>
              <a:buNone/>
              <a:defRPr sz="2550" b="1">
                <a:solidFill>
                  <a:srgbClr val="F5F8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5F8FF"/>
                </a:solidFill>
                <a:latin typeface="Inter"/>
                <a:ea typeface="Inter"/>
                <a:cs typeface="Inter"/>
              </a:rPr>
              <a:t>Проблема 3. UI login test падал из-за состояния TeamCity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47D4D87-DB65-40E4-889E-3B58BB2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38250"/>
            <a:ext cx="1524000" cy="19050"/>
          </a:xfrm>
          <a:custGeom xmlns:a="http://schemas.openxmlformats.org/drawingml/2006/main">
            <a:rect l="l" t="t" r="r" b="b"/>
            <a:pathLst>
              <a:path w="2032000" h="25400">
                <a:moveTo>
                  <a:pt x="0" y="0"/>
                </a:moveTo>
                <a:lnTo>
                  <a:pt x="2032000" y="0"/>
                </a:lnTo>
                <a:lnTo>
                  <a:pt x="2032000" y="25400"/>
                </a:ln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rgbClr val="7B5CF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F6C8DDE-6503-4FA4-9FE1-E9DA842E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09675"/>
            <a:ext cx="1524000" cy="4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BD5D32A-2670-4AF9-8D61-862E622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C9D6C1-6E07-4D9D-8FA1-78E919C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F5A177AC-7435-4BB3-8C1D-C822BAB4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D3E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S — Situation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1D126E4-E7E2-4F76-A643-22BC05E4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После локального запуска TeamCity в Docker тест авторизации через UI стабильно падал. Контейнеры и сервер работали, поэтому первоначально причиной могли быть Playwright, селекторы, credentials или конфигурация тестового окружения.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FF45DA-9778-4A28-8F51-663225AB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A855F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A855F7"/>
                </a:solidFill>
                <a:latin typeface="Inter"/>
                <a:ea typeface="Inter"/>
                <a:cs typeface="Inter"/>
              </a:rPr>
              <a:t>T — Task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A165FCE-8539-4575-BA12-052DFA3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Локализовать источник ошибки и добиться воспроизводимого запуска UI login test без изменения корректной тестовой логики.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89913F6-3201-4E5A-84CA-4F3C5993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28750"/>
            <a:ext cx="8001000" cy="8191500"/>
          </a:xfrm>
          <a:custGeom xmlns:a="http://schemas.openxmlformats.org/drawingml/2006/main">
            <a:rect l="l" t="t" r="r" b="b"/>
            <a:pathLst>
              <a:path w="10668000" h="10922000">
                <a:moveTo>
                  <a:pt x="1066800" y="0"/>
                </a:moveTo>
                <a:lnTo>
                  <a:pt x="9601200" y="0"/>
                </a:lnTo>
                <a:cubicBezTo>
                  <a:pt x="10190377" y="0"/>
                  <a:pt x="10668000" y="477623"/>
                  <a:pt x="10668000" y="1066800"/>
                </a:cubicBezTo>
                <a:lnTo>
                  <a:pt x="10668000" y="9855200"/>
                </a:lnTo>
                <a:cubicBezTo>
                  <a:pt x="10668000" y="10444377"/>
                  <a:pt x="10190377" y="10922000"/>
                  <a:pt x="9601200" y="10922000"/>
                </a:cubicBezTo>
                <a:lnTo>
                  <a:pt x="1066800" y="10922000"/>
                </a:lnTo>
                <a:cubicBezTo>
                  <a:pt x="477623" y="10922000"/>
                  <a:pt x="0" y="10444377"/>
                  <a:pt x="0" y="9855200"/>
                </a:cubicBezTo>
                <a:lnTo>
                  <a:pt x="0" y="1066800"/>
                </a:ln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solidFill xmlns:a="http://schemas.openxmlformats.org/drawingml/2006/main">
            <a:srgbClr val="11182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6332A0A-EA9D-4908-9ECB-A5697C13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1400175"/>
            <a:ext cx="8001000" cy="822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7B4913E-814D-4DFF-8557-4A7B44F3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619250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22C55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22C55E"/>
                </a:solidFill>
                <a:latin typeface="Inter"/>
                <a:ea typeface="Inter"/>
                <a:cs typeface="Inter"/>
              </a:rPr>
              <a:t>A — Action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FA3393D-53AB-490D-A806-F10C44C2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19300"/>
            <a:ext cx="74295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Я последовательно проверил состояние Docker-окружения и механизм TeamCity Super User, пересоздал стенд и отделил проблему инфраструктуры от UI-теста. В результате выяснил, что для сценария отсутствовал обычный пользователь TeamCity. После создания администратора admin/admin повторно запустил тот же тест.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C2EC083-7BF9-4A5F-9C7F-D3FA21EF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14875"/>
            <a:ext cx="7429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  <a:defRPr sz="1650" b="1">
                <a:solidFill>
                  <a:srgbClr val="F5B94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942"/>
                </a:solidFill>
                <a:latin typeface="Inter"/>
                <a:ea typeface="Inter"/>
                <a:cs typeface="Inter"/>
              </a:rPr>
              <a:t>R — Result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3E43270-5312-4B4E-8D9B-3FD0A22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114925"/>
            <a:ext cx="74295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13">
                <a:solidFill>
                  <a:srgbClr val="B9C5DD"/>
                </a:solidFill>
                <a:latin typeface="Inter"/>
                <a:ea typeface="Inter"/>
                <a:cs typeface="Inter"/>
              </a:defRPr>
            </a:pPr>
            <a:r>
              <a:rPr sz="1613">
                <a:solidFill>
                  <a:srgbClr val="B9C5DD"/>
                </a:solidFill>
                <a:latin typeface="Inter"/>
                <a:ea typeface="Inter"/>
                <a:cs typeface="Inter"/>
              </a:rPr>
              <a:t>UI login test начал успешно выполняться без изменения селекторов. Причина была локализована на уровне подготовки окружения, а не ошибочно замаскирована изменениями в UI-автоматизации.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5918891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2026-08-07T13:29:13.2890000Z</dcterms:created>
  <dcterms:modified xsi:type="dcterms:W3CDTF">2026-08-07T13:29:13.2890000Z</dcterms:modified>
</coreProperties>
</file>