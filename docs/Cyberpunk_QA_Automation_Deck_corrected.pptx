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74c2ca212d4162" /><Relationship Type="http://schemas.openxmlformats.org/officeDocument/2006/relationships/extended-properties" Target="/docProps/app.xml" Id="R49ece0a9bbc74c17" /><Relationship Type="http://schemas.openxmlformats.org/officeDocument/2006/relationships/officeDocument" Target="/ppt/presentation.xml" Id="R6f55f063d82f4ac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80c46f3b8854c5b"/>
  </p:sldMasterIdLst>
  <p:notesMasterIdLst>
    <p:notesMasterId xmlns:r="http://schemas.openxmlformats.org/officeDocument/2006/relationships" r:id="R0c5963d93ca14168"/>
  </p:notesMasterIdLst>
  <p:sldIdLst>
    <p:sldId xmlns:r="http://schemas.openxmlformats.org/officeDocument/2006/relationships" id="256" r:id="R2468fb7c9dd248b0"/>
    <p:sldId xmlns:r="http://schemas.openxmlformats.org/officeDocument/2006/relationships" id="257" r:id="Rfa661df65dfe4a8f"/>
    <p:sldId xmlns:r="http://schemas.openxmlformats.org/officeDocument/2006/relationships" id="258" r:id="Rfcff530987994b7d"/>
    <p:sldId xmlns:r="http://schemas.openxmlformats.org/officeDocument/2006/relationships" id="259" r:id="R5896b1ee73bd4b77"/>
    <p:sldId xmlns:r="http://schemas.openxmlformats.org/officeDocument/2006/relationships" id="260" r:id="R3a82e1b881ef4304"/>
    <p:sldId xmlns:r="http://schemas.openxmlformats.org/officeDocument/2006/relationships" id="261" r:id="Rba0321c897fa42f1"/>
    <p:sldId xmlns:r="http://schemas.openxmlformats.org/officeDocument/2006/relationships" id="262" r:id="R69052989ea984964"/>
    <p:sldId xmlns:r="http://schemas.openxmlformats.org/officeDocument/2006/relationships" id="263" r:id="Rc129eb2d17774c40"/>
    <p:sldId xmlns:r="http://schemas.openxmlformats.org/officeDocument/2006/relationships" id="264" r:id="Rabe550b2ed894f92"/>
    <p:sldId xmlns:r="http://schemas.openxmlformats.org/officeDocument/2006/relationships" id="265" r:id="R64a74122f8614538"/>
    <p:sldId xmlns:r="http://schemas.openxmlformats.org/officeDocument/2006/relationships" id="266" r:id="R69960354e548410d"/>
    <p:sldId xmlns:r="http://schemas.openxmlformats.org/officeDocument/2006/relationships" id="267" r:id="Rc99adfc32da84ff1"/>
    <p:sldId xmlns:r="http://schemas.openxmlformats.org/officeDocument/2006/relationships" id="268" r:id="R30937414139240bc"/>
    <p:sldId xmlns:r="http://schemas.openxmlformats.org/officeDocument/2006/relationships" id="269" r:id="R091b3766e65e4e99"/>
    <p:sldId xmlns:r="http://schemas.openxmlformats.org/officeDocument/2006/relationships" id="270" r:id="Rec62491d440b4017"/>
    <p:sldId xmlns:r="http://schemas.openxmlformats.org/officeDocument/2006/relationships" id="271" r:id="R6c5245108de44ecf"/>
    <p:sldId xmlns:r="http://schemas.openxmlformats.org/officeDocument/2006/relationships" id="272" r:id="R1763b5b4484c445b"/>
    <p:sldId xmlns:r="http://schemas.openxmlformats.org/officeDocument/2006/relationships" id="273" r:id="R456d737a358e4d65"/>
    <p:sldId xmlns:r="http://schemas.openxmlformats.org/officeDocument/2006/relationships" id="274" r:id="Rd6d95b4cfc104323"/>
    <p:sldId xmlns:r="http://schemas.openxmlformats.org/officeDocument/2006/relationships" id="275" r:id="R3e451ce350c04df9"/>
    <p:sldId xmlns:r="http://schemas.openxmlformats.org/officeDocument/2006/relationships" id="276" r:id="R3d51da2e79e34ae9"/>
    <p:sldId xmlns:r="http://schemas.openxmlformats.org/officeDocument/2006/relationships" id="277" r:id="R2fc251d532e64e82"/>
    <p:sldId xmlns:r="http://schemas.openxmlformats.org/officeDocument/2006/relationships" id="278" r:id="R0ea2c3c1f75a474a"/>
    <p:sldId xmlns:r="http://schemas.openxmlformats.org/officeDocument/2006/relationships" id="279" r:id="R75bee76afefe4f79"/>
    <p:sldId xmlns:r="http://schemas.openxmlformats.org/officeDocument/2006/relationships" id="280" r:id="R5be402df2c694c95"/>
    <p:sldId xmlns:r="http://schemas.openxmlformats.org/officeDocument/2006/relationships" id="281" r:id="Rfa4baa93878e4f5a"/>
    <p:sldId xmlns:r="http://schemas.openxmlformats.org/officeDocument/2006/relationships" id="282" r:id="Rb465350f021a4a2a"/>
    <p:sldId xmlns:r="http://schemas.openxmlformats.org/officeDocument/2006/relationships" id="283" r:id="Rd56ec2f05d434381"/>
    <p:sldId xmlns:r="http://schemas.openxmlformats.org/officeDocument/2006/relationships" id="284" r:id="Rf5ee05f2416948c5"/>
    <p:sldId xmlns:r="http://schemas.openxmlformats.org/officeDocument/2006/relationships" id="285" r:id="R674abc6c55284c4b"/>
    <p:sldId xmlns:r="http://schemas.openxmlformats.org/officeDocument/2006/relationships" id="286" r:id="R0cf242be976a4496"/>
    <p:sldId xmlns:r="http://schemas.openxmlformats.org/officeDocument/2006/relationships" id="287" r:id="R439ae38d5ba54561"/>
    <p:sldId xmlns:r="http://schemas.openxmlformats.org/officeDocument/2006/relationships" id="288" r:id="R5c4c05cc3f3e4ca1"/>
  </p:sldIdLst>
  <p:sldSz cx="18288000" cy="10287000"/>
  <p:notesSz cx="6858000" cy="9144000"/>
  <p:embeddedFontLst>
    <p:embeddedFont>
      <p:font typeface="Telegraf"/>
      <p:regular xmlns:r="http://schemas.openxmlformats.org/officeDocument/2006/relationships" r:id="R06e30e654a7644a3"/>
    </p:embeddedFont>
    <p:embeddedFont>
      <p:font typeface="Inter"/>
      <p:regular xmlns:r="http://schemas.openxmlformats.org/officeDocument/2006/relationships" r:id="Rc91b84f5dc874fc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7894a8de6d4859" /><Relationship Type="http://schemas.openxmlformats.org/officeDocument/2006/relationships/slideMaster" Target="/ppt/slideMasters/slideMaster1.xml" Id="Rf80c46f3b8854c5b" /><Relationship Type="http://schemas.openxmlformats.org/officeDocument/2006/relationships/notesMaster" Target="/ppt/notesMasters/notesMaster1.xml" Id="R0c5963d93ca14168" /><Relationship Type="http://schemas.openxmlformats.org/officeDocument/2006/relationships/presProps" Target="/ppt/presProps.xml" Id="Raf943aef0c444048" /><Relationship Type="http://schemas.openxmlformats.org/officeDocument/2006/relationships/viewProps" Target="/ppt/viewProps.xml" Id="R9dc86b01247e47e5" /><Relationship Type="http://schemas.openxmlformats.org/officeDocument/2006/relationships/tableStyles" Target="/ppt/tableStyles.xml" Id="R5fc6b509accd4e43" /><Relationship Type="http://schemas.openxmlformats.org/officeDocument/2006/relationships/font" Target="/ppt/fonts/font.dat" Id="R06e30e654a7644a3" /><Relationship Type="http://schemas.openxmlformats.org/officeDocument/2006/relationships/font" Target="/ppt/fonts/font2.dat" Id="Rc91b84f5dc874fc5" /><Relationship Type="http://schemas.openxmlformats.org/officeDocument/2006/relationships/slide" Target="/ppt/slides/slide1.xml" Id="R2468fb7c9dd248b0" /><Relationship Type="http://schemas.openxmlformats.org/officeDocument/2006/relationships/slide" Target="/ppt/slides/slide2.xml" Id="Rfa661df65dfe4a8f" /><Relationship Type="http://schemas.openxmlformats.org/officeDocument/2006/relationships/slide" Target="/ppt/slides/slide3.xml" Id="Rfcff530987994b7d" /><Relationship Type="http://schemas.openxmlformats.org/officeDocument/2006/relationships/slide" Target="/ppt/slides/slide4.xml" Id="R5896b1ee73bd4b77" /><Relationship Type="http://schemas.openxmlformats.org/officeDocument/2006/relationships/slide" Target="/ppt/slides/slide5.xml" Id="R3a82e1b881ef4304" /><Relationship Type="http://schemas.openxmlformats.org/officeDocument/2006/relationships/slide" Target="/ppt/slides/slide6.xml" Id="Rba0321c897fa42f1" /><Relationship Type="http://schemas.openxmlformats.org/officeDocument/2006/relationships/slide" Target="/ppt/slides/slide7.xml" Id="R69052989ea984964" /><Relationship Type="http://schemas.openxmlformats.org/officeDocument/2006/relationships/slide" Target="/ppt/slides/slide8.xml" Id="Rc129eb2d17774c40" /><Relationship Type="http://schemas.openxmlformats.org/officeDocument/2006/relationships/slide" Target="/ppt/slides/slide9.xml" Id="Rabe550b2ed894f92" /><Relationship Type="http://schemas.openxmlformats.org/officeDocument/2006/relationships/slide" Target="/ppt/slides/slide10.xml" Id="R64a74122f8614538" /><Relationship Type="http://schemas.openxmlformats.org/officeDocument/2006/relationships/slide" Target="/ppt/slides/slide11.xml" Id="R69960354e548410d" /><Relationship Type="http://schemas.openxmlformats.org/officeDocument/2006/relationships/slide" Target="/ppt/slides/slide12.xml" Id="Rc99adfc32da84ff1" /><Relationship Type="http://schemas.openxmlformats.org/officeDocument/2006/relationships/slide" Target="/ppt/slides/slide13.xml" Id="R30937414139240bc" /><Relationship Type="http://schemas.openxmlformats.org/officeDocument/2006/relationships/slide" Target="/ppt/slides/slide14.xml" Id="R091b3766e65e4e99" /><Relationship Type="http://schemas.openxmlformats.org/officeDocument/2006/relationships/slide" Target="/ppt/slides/slide15.xml" Id="Rec62491d440b4017" /><Relationship Type="http://schemas.openxmlformats.org/officeDocument/2006/relationships/slide" Target="/ppt/slides/slide16.xml" Id="R6c5245108de44ecf" /><Relationship Type="http://schemas.openxmlformats.org/officeDocument/2006/relationships/slide" Target="/ppt/slides/slide17.xml" Id="R1763b5b4484c445b" /><Relationship Type="http://schemas.openxmlformats.org/officeDocument/2006/relationships/slide" Target="/ppt/slides/slide18.xml" Id="R456d737a358e4d65" /><Relationship Type="http://schemas.openxmlformats.org/officeDocument/2006/relationships/slide" Target="/ppt/slides/slide19.xml" Id="Rd6d95b4cfc104323" /><Relationship Type="http://schemas.openxmlformats.org/officeDocument/2006/relationships/slide" Target="/ppt/slides/slide20.xml" Id="R3e451ce350c04df9" /><Relationship Type="http://schemas.openxmlformats.org/officeDocument/2006/relationships/slide" Target="/ppt/slides/slide21.xml" Id="R3d51da2e79e34ae9" /><Relationship Type="http://schemas.openxmlformats.org/officeDocument/2006/relationships/slide" Target="/ppt/slides/slide22.xml" Id="R2fc251d532e64e82" /><Relationship Type="http://schemas.openxmlformats.org/officeDocument/2006/relationships/slide" Target="/ppt/slides/slide23.xml" Id="R0ea2c3c1f75a474a" /><Relationship Type="http://schemas.openxmlformats.org/officeDocument/2006/relationships/slide" Target="/ppt/slides/slide24.xml" Id="R75bee76afefe4f79" /><Relationship Type="http://schemas.openxmlformats.org/officeDocument/2006/relationships/slide" Target="/ppt/slides/slide25.xml" Id="R5be402df2c694c95" /><Relationship Type="http://schemas.openxmlformats.org/officeDocument/2006/relationships/slide" Target="/ppt/slides/slide26.xml" Id="Rfa4baa93878e4f5a" /><Relationship Type="http://schemas.openxmlformats.org/officeDocument/2006/relationships/slide" Target="/ppt/slides/slide27.xml" Id="Rb465350f021a4a2a" /><Relationship Type="http://schemas.openxmlformats.org/officeDocument/2006/relationships/slide" Target="/ppt/slides/slide28.xml" Id="Rd56ec2f05d434381" /><Relationship Type="http://schemas.openxmlformats.org/officeDocument/2006/relationships/slide" Target="/ppt/slides/slide29.xml" Id="Rf5ee05f2416948c5" /><Relationship Type="http://schemas.openxmlformats.org/officeDocument/2006/relationships/slide" Target="/ppt/slides/slide30.xml" Id="R674abc6c55284c4b" /><Relationship Type="http://schemas.openxmlformats.org/officeDocument/2006/relationships/slide" Target="/ppt/slides/slide31.xml" Id="R0cf242be976a4496" /><Relationship Type="http://schemas.openxmlformats.org/officeDocument/2006/relationships/slide" Target="/ppt/slides/slide32.xml" Id="R439ae38d5ba54561" /><Relationship Type="http://schemas.openxmlformats.org/officeDocument/2006/relationships/slide" Target="/ppt/slides/slide33.xml" Id="R5c4c05cc3f3e4c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7612ca6ac944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ed8a86b9454110" /><Relationship Type="http://schemas.openxmlformats.org/officeDocument/2006/relationships/notesMaster" Target="/ppt/notesMasters/notesMaster1.xml" Id="R1fbaefe00acd47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dc846177fd4f1e" /><Relationship Type="http://schemas.openxmlformats.org/officeDocument/2006/relationships/notesMaster" Target="/ppt/notesMasters/notesMaster1.xml" Id="R70527a7132d644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a66c7729654361" /><Relationship Type="http://schemas.openxmlformats.org/officeDocument/2006/relationships/notesMaster" Target="/ppt/notesMasters/notesMaster1.xml" Id="R64269eef337e42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4f5da6d76846da" /><Relationship Type="http://schemas.openxmlformats.org/officeDocument/2006/relationships/notesMaster" Target="/ppt/notesMasters/notesMaster1.xml" Id="R5224715b17da4b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5e986a38214d6e" /><Relationship Type="http://schemas.openxmlformats.org/officeDocument/2006/relationships/notesMaster" Target="/ppt/notesMasters/notesMaster1.xml" Id="Rff1b285cee5b4e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6f0bc6f92e48d4" /><Relationship Type="http://schemas.openxmlformats.org/officeDocument/2006/relationships/notesMaster" Target="/ppt/notesMasters/notesMaster1.xml" Id="R769ef13dee7e47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42d2dce87e4e01" /><Relationship Type="http://schemas.openxmlformats.org/officeDocument/2006/relationships/notesMaster" Target="/ppt/notesMasters/notesMaster1.xml" Id="R17960d77536f4d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bc49dc3f824fb4" /><Relationship Type="http://schemas.openxmlformats.org/officeDocument/2006/relationships/notesMaster" Target="/ppt/notesMasters/notesMaster1.xml" Id="R41f1115e49ff44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5f67943846404b" /><Relationship Type="http://schemas.openxmlformats.org/officeDocument/2006/relationships/notesMaster" Target="/ppt/notesMasters/notesMaster1.xml" Id="Re8f53fa560e44b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f3e1aa7d824f93" /><Relationship Type="http://schemas.openxmlformats.org/officeDocument/2006/relationships/notesMaster" Target="/ppt/notesMasters/notesMaster1.xml" Id="Ree49b5a5f6ce48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b2d7c9571642f2" /><Relationship Type="http://schemas.openxmlformats.org/officeDocument/2006/relationships/notesMaster" Target="/ppt/notesMasters/notesMaster1.xml" Id="R41680a3051664b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762513558c4ab8" /><Relationship Type="http://schemas.openxmlformats.org/officeDocument/2006/relationships/notesMaster" Target="/ppt/notesMasters/notesMaster1.xml" Id="R30e105e0214542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f77865a47b4657" /><Relationship Type="http://schemas.openxmlformats.org/officeDocument/2006/relationships/notesMaster" Target="/ppt/notesMasters/notesMaster1.xml" Id="R6c5c25689b9949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0b08df83b734fa5" /><Relationship Type="http://schemas.openxmlformats.org/officeDocument/2006/relationships/notesMaster" Target="/ppt/notesMasters/notesMaster1.xml" Id="R4f4e807cb27d48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39ead75f524595" /><Relationship Type="http://schemas.openxmlformats.org/officeDocument/2006/relationships/notesMaster" Target="/ppt/notesMasters/notesMaster1.xml" Id="R88e325e8bfae44b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a09e361b4be4605" /><Relationship Type="http://schemas.openxmlformats.org/officeDocument/2006/relationships/notesMaster" Target="/ppt/notesMasters/notesMaster1.xml" Id="R2c9ea37fd1334e9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ed01009997e4d4c" /><Relationship Type="http://schemas.openxmlformats.org/officeDocument/2006/relationships/notesMaster" Target="/ppt/notesMasters/notesMaster1.xml" Id="R46163bbf622f4ba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3aaafa1cb5e4fec" /><Relationship Type="http://schemas.openxmlformats.org/officeDocument/2006/relationships/notesMaster" Target="/ppt/notesMasters/notesMaster1.xml" Id="Rf2055cbb5210494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683826b2e454f01" /><Relationship Type="http://schemas.openxmlformats.org/officeDocument/2006/relationships/notesMaster" Target="/ppt/notesMasters/notesMaster1.xml" Id="R871f163b4ad0466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0af6ecdf1b941a1" /><Relationship Type="http://schemas.openxmlformats.org/officeDocument/2006/relationships/notesMaster" Target="/ppt/notesMasters/notesMaster1.xml" Id="R8bacb9506609457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92624acbda44a0e" /><Relationship Type="http://schemas.openxmlformats.org/officeDocument/2006/relationships/notesMaster" Target="/ppt/notesMasters/notesMaster1.xml" Id="R38afaa0113534e4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10c7d461cec4300" /><Relationship Type="http://schemas.openxmlformats.org/officeDocument/2006/relationships/notesMaster" Target="/ppt/notesMasters/notesMaster1.xml" Id="R0816ca0b2f4f455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a778574371d4a53" /><Relationship Type="http://schemas.openxmlformats.org/officeDocument/2006/relationships/notesMaster" Target="/ppt/notesMasters/notesMaster1.xml" Id="R0732c7cfe8c344f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ab099fce55146c3" /><Relationship Type="http://schemas.openxmlformats.org/officeDocument/2006/relationships/notesMaster" Target="/ppt/notesMasters/notesMaster1.xml" Id="R86922d0c79c14f4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ecc34f637bc4c79" /><Relationship Type="http://schemas.openxmlformats.org/officeDocument/2006/relationships/notesMaster" Target="/ppt/notesMasters/notesMaster1.xml" Id="R6cd3a0594289459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332899923d8475b" /><Relationship Type="http://schemas.openxmlformats.org/officeDocument/2006/relationships/notesMaster" Target="/ppt/notesMasters/notesMaster1.xml" Id="R4a8feacc378d4f4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8b6135226ec4ddd" /><Relationship Type="http://schemas.openxmlformats.org/officeDocument/2006/relationships/notesMaster" Target="/ppt/notesMasters/notesMaster1.xml" Id="Rde9ce58af4404a2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39490ad175e4013" /><Relationship Type="http://schemas.openxmlformats.org/officeDocument/2006/relationships/notesMaster" Target="/ppt/notesMasters/notesMaster1.xml" Id="R708cade21f75466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bc18d0876194a1c" /><Relationship Type="http://schemas.openxmlformats.org/officeDocument/2006/relationships/notesMaster" Target="/ppt/notesMasters/notesMaster1.xml" Id="R8abdc3bc5f4a4cc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0eafcbe82794e20" /><Relationship Type="http://schemas.openxmlformats.org/officeDocument/2006/relationships/notesMaster" Target="/ppt/notesMasters/notesMaster1.xml" Id="Raacbad7ea93343b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e9e7d3ee0ba4623" /><Relationship Type="http://schemas.openxmlformats.org/officeDocument/2006/relationships/notesMaster" Target="/ppt/notesMasters/notesMaster1.xml" Id="R9c9614b1c2c84d0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3672a247fbd4ec2" /><Relationship Type="http://schemas.openxmlformats.org/officeDocument/2006/relationships/notesMaster" Target="/ppt/notesMasters/notesMaster1.xml" Id="R5057958cd02f44a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0a4dc1ebfc14a5a" /><Relationship Type="http://schemas.openxmlformats.org/officeDocument/2006/relationships/notesMaster" Target="/ppt/notesMasters/notesMaster1.xml" Id="R6390826fc6ec48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307f46846e479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6ce6873ef46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937dcae786419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2d8c51ff54e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364bd46a4c48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4aca16215749c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248e1d43b3458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8f630406b43a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d0ad2332ad4c0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9af0d97058440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e42b10eaa849a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B6211C-7851-43F3-8C2F-BE644B12BB2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F91BB5-05A0-4F08-987D-0C2236E075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5BDBB1-8085-4075-9B67-12DDC740AA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5CC7D91-8495-4ED2-9DFD-2ABB696C62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C0A059E-9750-435C-9037-90F084FFB2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C8D1E2-50A1-44BF-A8F1-D5399A8078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7F5065D-120D-4723-9BEF-BAF33D8171C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1F28793-BB23-4117-A9F1-7A26AAD556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733D8DE-FCDF-4F0E-951F-E46C36F514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CC791D-C551-443D-85AC-137925A91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1B65DD5-B608-421E-9B9E-1207ECEA47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9A72AF-C579-4548-8D66-90CF135645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510433-9373-4832-81CC-E717C83217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567141-21CB-4325-B2F5-2596AF625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1E3E8CD-3526-49CE-B0CE-1614ADD18C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E2D40F-5668-40F8-B5CB-5876350C1B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CC890FB-CA1B-43DF-9CCB-15CA23196AD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9E3D00E-DA9C-45A7-B289-1D7BFDDF0C2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719FFC-8ED7-4DA6-8D06-4116BCBF3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1966EF0-4608-44D9-B77E-5143B7BD89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F44041C-5552-44D7-BA88-7CD6AB2F35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0DEA68-6B40-4D7A-8BCA-4FB6E27A82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BDEBFB-A349-4D7F-8188-F690F0D03E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BF36271-1D33-435D-9616-DF4C1916749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E3869A8-33A5-4496-9B8A-D03A4A5CD6A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ABAC84D-0C3D-4AA4-AF2A-0E0B385A6C8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2F75512-766C-4547-9A46-0DEC66EC76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4100CF-3AC2-406B-BB77-9365242DAD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91C5E8-531E-44DC-9F2F-43089FD9B7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80A68C-0DA7-4CF7-A32E-22C013CF53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4A3F924-E52C-4208-9F05-31ADBA87E6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7CA132-754E-4842-9D2F-B4D0B3B18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D0ECBC2-0A7F-4FE5-8B5B-FF698CE9EB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73DDB14-3D96-4343-87CD-C35812870F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CDE0E65-655A-412A-AC82-FC4782DE68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48A994B-90A3-4B62-9E39-257A96B529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9601C8-537E-4119-ADA9-6EDDD4A2DA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9E67B65-75E1-4490-98DA-A0C85F374E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68157F1-5DDA-4B53-9AD8-BFC4A6918E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56BFC00-3335-445A-B70B-C95F8E5FB0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1E5B1E3-6094-4832-AEB3-8396474D13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F44A539-B0A5-4513-8279-6242FA64BA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3D4DAFD-D58E-41AB-B9A1-2504665296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0650F0F-681F-40B4-8E4C-D3396E81E64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FE2A288-95D0-466B-A3AD-A1A8FA0EEE2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3FB9B66-B0B9-49D3-BE6C-D0F05221DA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FE4802A-FADB-4033-9036-97C8C1EAC1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561C57F-36C7-4484-8DEE-5614FD9D09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857A1E-FDBF-4BC6-AE9F-00877FD7EF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0B5E95-B8B2-4A69-A4FB-BF5FC99E5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6A30A5-3DB4-422D-8A0D-9A0613F249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2F4702-8C41-4059-A6D8-112288B764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0C76954-BFDC-45A3-8970-06B2DC7FA8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5A80A55-4018-4D26-AAF4-7951F420C4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65E8E51-98AD-4587-AAC9-AC96E27742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39F0D2-C40B-47A2-88E7-6D02099128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E85DF94-3197-4A37-96C1-EC41AB52E4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39FA0A-A41A-4D2B-8BAB-611BE0952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2949feeca1488a" /><Relationship Type="http://schemas.openxmlformats.org/officeDocument/2006/relationships/slideLayout" Target="/ppt/slideLayouts/slideLayout1.xml" Id="Ra57edb0ac4b741a6" /><Relationship Type="http://schemas.openxmlformats.org/officeDocument/2006/relationships/slideLayout" Target="/ppt/slideLayouts/slideLayout2.xml" Id="R2be24ebcc19e4a3f" /><Relationship Type="http://schemas.openxmlformats.org/officeDocument/2006/relationships/slideLayout" Target="/ppt/slideLayouts/slideLayout3.xml" Id="R7dc736eb0ded4f1c" /><Relationship Type="http://schemas.openxmlformats.org/officeDocument/2006/relationships/slideLayout" Target="/ppt/slideLayouts/slideLayout4.xml" Id="R82aa97e0fc594b58" /><Relationship Type="http://schemas.openxmlformats.org/officeDocument/2006/relationships/slideLayout" Target="/ppt/slideLayouts/slideLayout5.xml" Id="R71a2261b892c4620" /><Relationship Type="http://schemas.openxmlformats.org/officeDocument/2006/relationships/slideLayout" Target="/ppt/slideLayouts/slideLayout6.xml" Id="R12ae0f65660c4356" /><Relationship Type="http://schemas.openxmlformats.org/officeDocument/2006/relationships/slideLayout" Target="/ppt/slideLayouts/slideLayout7.xml" Id="Rc88f9f1be2ea4b70" /><Relationship Type="http://schemas.openxmlformats.org/officeDocument/2006/relationships/slideLayout" Target="/ppt/slideLayouts/slideLayout8.xml" Id="Raf357944e7da4414" /><Relationship Type="http://schemas.openxmlformats.org/officeDocument/2006/relationships/slideLayout" Target="/ppt/slideLayouts/slideLayout9.xml" Id="Rb4819b02cfb94a28" /><Relationship Type="http://schemas.openxmlformats.org/officeDocument/2006/relationships/slideLayout" Target="/ppt/slideLayouts/slideLayout10.xml" Id="Rc08d9d4514b74517" /><Relationship Type="http://schemas.openxmlformats.org/officeDocument/2006/relationships/slideLayout" Target="/ppt/slideLayouts/slideLayout11.xml" Id="R94bcf1055c154c4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936105E-D500-4A07-A95D-0B049E417F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16CB17C-B1D6-4AEF-9ED9-8EC4FC3DDC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4DABB4-9CFC-499D-A72D-ED70BBCBE6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94A0B9-CEC6-42CD-B6EF-DDE017CE186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930E4E-759C-4DE9-A1D5-727D7FD833D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7edb0ac4b741a6"/>
    <p:sldLayoutId xmlns:r="http://schemas.openxmlformats.org/officeDocument/2006/relationships" id="2147483650" r:id="R2be24ebcc19e4a3f"/>
    <p:sldLayoutId xmlns:r="http://schemas.openxmlformats.org/officeDocument/2006/relationships" id="2147483651" r:id="R7dc736eb0ded4f1c"/>
    <p:sldLayoutId xmlns:r="http://schemas.openxmlformats.org/officeDocument/2006/relationships" id="2147483652" r:id="R82aa97e0fc594b58"/>
    <p:sldLayoutId xmlns:r="http://schemas.openxmlformats.org/officeDocument/2006/relationships" id="2147483653" r:id="R71a2261b892c4620"/>
    <p:sldLayoutId xmlns:r="http://schemas.openxmlformats.org/officeDocument/2006/relationships" id="2147483654" r:id="R12ae0f65660c4356"/>
    <p:sldLayoutId xmlns:r="http://schemas.openxmlformats.org/officeDocument/2006/relationships" id="2147483655" r:id="Rc88f9f1be2ea4b70"/>
    <p:sldLayoutId xmlns:r="http://schemas.openxmlformats.org/officeDocument/2006/relationships" id="2147483656" r:id="Raf357944e7da4414"/>
    <p:sldLayoutId xmlns:r="http://schemas.openxmlformats.org/officeDocument/2006/relationships" id="2147483657" r:id="Rb4819b02cfb94a28"/>
    <p:sldLayoutId xmlns:r="http://schemas.openxmlformats.org/officeDocument/2006/relationships" id="2147483658" r:id="Rc08d9d4514b74517"/>
    <p:sldLayoutId xmlns:r="http://schemas.openxmlformats.org/officeDocument/2006/relationships" id="2147483659" r:id="R94bcf1055c154c44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34283cb1c845dc" /><Relationship Type="http://schemas.openxmlformats.org/officeDocument/2006/relationships/notesSlide" Target="/ppt/notesSlides/notesSlide1.xml" Id="R51e9f4cd7eff45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a24d148f124239" /><Relationship Type="http://schemas.openxmlformats.org/officeDocument/2006/relationships/notesSlide" Target="/ppt/notesSlides/notesSlide2.xml" Id="R3ba73fd7bf5845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d860983e6c4520" /><Relationship Type="http://schemas.openxmlformats.org/officeDocument/2006/relationships/notesSlide" Target="/ppt/notesSlides/notesSlide3.xml" Id="Raffd9da803434f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7f1d9d1d9e4b2b" /><Relationship Type="http://schemas.openxmlformats.org/officeDocument/2006/relationships/notesSlide" Target="/ppt/notesSlides/notesSlide4.xml" Id="R0dc0c19c824e4b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836f4336974138" /><Relationship Type="http://schemas.openxmlformats.org/officeDocument/2006/relationships/notesSlide" Target="/ppt/notesSlides/notesSlide5.xml" Id="R9ec6c79e5a8745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5c761cfd4b48c8" /><Relationship Type="http://schemas.openxmlformats.org/officeDocument/2006/relationships/notesSlide" Target="/ppt/notesSlides/notesSlide6.xml" Id="R4e50b592076747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fcac19e18846c9" /><Relationship Type="http://schemas.openxmlformats.org/officeDocument/2006/relationships/notesSlide" Target="/ppt/notesSlides/notesSlide7.xml" Id="Rf2e4b0fd174345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e1f7fc00f84cf2" /><Relationship Type="http://schemas.openxmlformats.org/officeDocument/2006/relationships/notesSlide" Target="/ppt/notesSlides/notesSlide8.xml" Id="Rcd901f053ba84f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cd254046024ab0" /><Relationship Type="http://schemas.openxmlformats.org/officeDocument/2006/relationships/notesSlide" Target="/ppt/notesSlides/notesSlide9.xml" Id="R2a00545a65134a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c874cc77c94343" /><Relationship Type="http://schemas.openxmlformats.org/officeDocument/2006/relationships/notesSlide" Target="/ppt/notesSlides/notesSlide10.xml" Id="Rc61614168a284c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8adcf350fb433d" /><Relationship Type="http://schemas.openxmlformats.org/officeDocument/2006/relationships/notesSlide" Target="/ppt/notesSlides/notesSlide11.xml" Id="R0f0e8643073048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9a8a8539b043f8" /><Relationship Type="http://schemas.openxmlformats.org/officeDocument/2006/relationships/notesSlide" Target="/ppt/notesSlides/notesSlide12.xml" Id="R6a1ddd32745049b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11e4b4a2844c82" /><Relationship Type="http://schemas.openxmlformats.org/officeDocument/2006/relationships/notesSlide" Target="/ppt/notesSlides/notesSlide13.xml" Id="R2fef8ce51daa40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0a7567867347d6" /><Relationship Type="http://schemas.openxmlformats.org/officeDocument/2006/relationships/notesSlide" Target="/ppt/notesSlides/notesSlide14.xml" Id="Rbb966c5be1ae49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ce567071054d93" /><Relationship Type="http://schemas.openxmlformats.org/officeDocument/2006/relationships/notesSlide" Target="/ppt/notesSlides/notesSlide15.xml" Id="R0269d111f05743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dc525f1faf495d" /><Relationship Type="http://schemas.openxmlformats.org/officeDocument/2006/relationships/notesSlide" Target="/ppt/notesSlides/notesSlide16.xml" Id="Rbf78fc4fce504c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edf38c05ee4580" /><Relationship Type="http://schemas.openxmlformats.org/officeDocument/2006/relationships/notesSlide" Target="/ppt/notesSlides/notesSlide17.xml" Id="R9b04073fe8f04fa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af2bbee63d495f" /><Relationship Type="http://schemas.openxmlformats.org/officeDocument/2006/relationships/notesSlide" Target="/ppt/notesSlides/notesSlide18.xml" Id="R4d6ea500bf01409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3af64dec2e4359" /><Relationship Type="http://schemas.openxmlformats.org/officeDocument/2006/relationships/notesSlide" Target="/ppt/notesSlides/notesSlide19.xml" Id="R108697d6283a48f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ade4f694044187" /><Relationship Type="http://schemas.openxmlformats.org/officeDocument/2006/relationships/notesSlide" Target="/ppt/notesSlides/notesSlide20.xml" Id="Re122bc47cbfd431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32e3ccc1624c5e" /><Relationship Type="http://schemas.openxmlformats.org/officeDocument/2006/relationships/notesSlide" Target="/ppt/notesSlides/notesSlide21.xml" Id="R6966fe9b43ef4a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bdad7bb02b4c0f" /><Relationship Type="http://schemas.openxmlformats.org/officeDocument/2006/relationships/notesSlide" Target="/ppt/notesSlides/notesSlide22.xml" Id="R5a1f7c7cf06f48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40590a2c204c3e" /><Relationship Type="http://schemas.openxmlformats.org/officeDocument/2006/relationships/notesSlide" Target="/ppt/notesSlides/notesSlide23.xml" Id="Re9a37d89fda34b8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817dfe95ea40cf" /><Relationship Type="http://schemas.openxmlformats.org/officeDocument/2006/relationships/notesSlide" Target="/ppt/notesSlides/notesSlide24.xml" Id="Rbcb02ceb33f149c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753282ca844e35" /><Relationship Type="http://schemas.openxmlformats.org/officeDocument/2006/relationships/notesSlide" Target="/ppt/notesSlides/notesSlide25.xml" Id="R79665ede68b64fd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14acf66b354a6f" /><Relationship Type="http://schemas.openxmlformats.org/officeDocument/2006/relationships/notesSlide" Target="/ppt/notesSlides/notesSlide26.xml" Id="Rb28d1e8584f54d7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198975acb44507" /><Relationship Type="http://schemas.openxmlformats.org/officeDocument/2006/relationships/notesSlide" Target="/ppt/notesSlides/notesSlide27.xml" Id="R88a154e678c54b8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063b5a19884f35" /><Relationship Type="http://schemas.openxmlformats.org/officeDocument/2006/relationships/notesSlide" Target="/ppt/notesSlides/notesSlide28.xml" Id="R1fa3a69d1a654e8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3d56a3364f4f06" /><Relationship Type="http://schemas.openxmlformats.org/officeDocument/2006/relationships/notesSlide" Target="/ppt/notesSlides/notesSlide29.xml" Id="R9e3f984563574b9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2570947ba445e6" /><Relationship Type="http://schemas.openxmlformats.org/officeDocument/2006/relationships/notesSlide" Target="/ppt/notesSlides/notesSlide30.xml" Id="Ra7def846f673495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cc5f875c164862" /><Relationship Type="http://schemas.openxmlformats.org/officeDocument/2006/relationships/notesSlide" Target="/ppt/notesSlides/notesSlide31.xml" Id="Rbc85f7e3cc924fb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0d1cded7084fee" /><Relationship Type="http://schemas.openxmlformats.org/officeDocument/2006/relationships/notesSlide" Target="/ppt/notesSlides/notesSlide32.xml" Id="R53d8dce9c6314b4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d2dab86fa24584" /><Relationship Type="http://schemas.openxmlformats.org/officeDocument/2006/relationships/notesSlide" Target="/ppt/notesSlides/notesSlide33.xml" Id="Rc397f76b9d1b41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F8331DFB-A492-4F9C-8B08-4279370F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8288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1775EC74-FF55-43FB-BD8B-76C1AC00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8288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9A04F26E-FF36-4E79-840A-F17B914D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8288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BA4E9E04-D9E1-4BCC-991D-46C9D4EE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8288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0F9DD677-925D-447D-BB86-67F3DE32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0"/>
            <a:ext cx="18288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>
            <a:extLst xmlns:a="http://schemas.openxmlformats.org/drawingml/2006/main">
              <a:ext uri="{FF2B5EF4-FFF2-40B4-BE49-F238E27FC236}">
                <a16:creationId xmlns:a16="http://schemas.microsoft.com/office/drawing/2014/main" id="{D98C8F83-F14D-4D71-9D64-A8A20037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10287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AutoShape 8">
            <a:extLst xmlns:a="http://schemas.openxmlformats.org/drawingml/2006/main">
              <a:ext uri="{FF2B5EF4-FFF2-40B4-BE49-F238E27FC236}">
                <a16:creationId xmlns:a16="http://schemas.microsoft.com/office/drawing/2014/main" id="{2131AEF9-21B2-4E38-BAAA-6E27156E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10287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>
            <a:extLst xmlns:a="http://schemas.openxmlformats.org/drawingml/2006/main">
              <a:ext uri="{FF2B5EF4-FFF2-40B4-BE49-F238E27FC236}">
                <a16:creationId xmlns:a16="http://schemas.microsoft.com/office/drawing/2014/main" id="{F437E0A6-B133-40CD-BD4C-C4D73AB9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10287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>
            <a:extLst xmlns:a="http://schemas.openxmlformats.org/drawingml/2006/main">
              <a:ext uri="{FF2B5EF4-FFF2-40B4-BE49-F238E27FC236}">
                <a16:creationId xmlns:a16="http://schemas.microsoft.com/office/drawing/2014/main" id="{EC23F2A0-E486-4428-8522-2AAF8F5D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10287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>
            <a:extLst xmlns:a="http://schemas.openxmlformats.org/drawingml/2006/main">
              <a:ext uri="{FF2B5EF4-FFF2-40B4-BE49-F238E27FC236}">
                <a16:creationId xmlns:a16="http://schemas.microsoft.com/office/drawing/2014/main" id="{73342F06-0FDB-4866-91BF-0E2CA82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10287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>
            <a:extLst xmlns:a="http://schemas.openxmlformats.org/drawingml/2006/main">
              <a:ext uri="{FF2B5EF4-FFF2-40B4-BE49-F238E27FC236}">
                <a16:creationId xmlns:a16="http://schemas.microsoft.com/office/drawing/2014/main" id="{B6F076C0-EC72-43BE-A968-1716561A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10287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>
            <a:extLst xmlns:a="http://schemas.openxmlformats.org/drawingml/2006/main">
              <a:ext uri="{FF2B5EF4-FFF2-40B4-BE49-F238E27FC236}">
                <a16:creationId xmlns:a16="http://schemas.microsoft.com/office/drawing/2014/main" id="{B1B8EF1E-469E-4C1F-81B4-4D966D10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0"/>
            <a:ext cx="0" cy="10287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A254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F7FF5C44-9FBA-4C65-B55A-920F307D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38100"/>
          </a:xfrm>
          <a:custGeom xmlns:a="http://schemas.openxmlformats.org/drawingml/2006/main">
            <a:rect l="l" t="t" r="r" b="b"/>
            <a:pathLst>
              <a:path w="24384000" h="50800">
                <a:moveTo>
                  <a:pt x="0" y="0"/>
                </a:moveTo>
                <a:lnTo>
                  <a:pt x="24384000" y="0"/>
                </a:lnTo>
                <a:lnTo>
                  <a:pt x="24384000" y="50800"/>
                </a:lnTo>
                <a:lnTo>
                  <a:pt x="0" y="508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91BB703D-F464-47DB-A13A-5276310C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66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006875DC-44C6-46B2-BD43-0C4D608E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3629025"/>
            <a:ext cx="13335000" cy="121134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ts val="9357"/>
              </a:lnSpc>
              <a:spcBef>
                <a:spcPct val="0"/>
              </a:spcBef>
              <a:buNone/>
              <a:defRPr sz="43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4350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Автоматизация TeamCity с нуля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A3BEA9EE-293F-4854-B2E3-4ABB0B30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5248275"/>
            <a:ext cx="11430000" cy="4977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ts val="3919"/>
              </a:lnSpc>
              <a:spcBef>
                <a:spcPct val="0"/>
              </a:spcBef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 u="none">
                <a:solidFill>
                  <a:srgbClr val="22D3EE"/>
                </a:solidFill>
                <a:latin typeface="Inter"/>
                <a:ea typeface="Inter"/>
                <a:cs typeface="Inter"/>
              </a:rPr>
              <a:t>Командные достижения и личный вклад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26C6951A-DEA7-421D-84B9-CD13934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6276975"/>
            <a:ext cx="9525000" cy="71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ts val="2800"/>
              </a:lnSpc>
              <a:spcBef>
                <a:spcPct val="0"/>
              </a:spcBef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 u="none">
                <a:solidFill>
                  <a:srgbClr val="7F91B4"/>
                </a:solidFill>
                <a:latin typeface="Inter"/>
                <a:ea typeface="Inter"/>
                <a:cs typeface="Inter"/>
              </a:rPr>
              <a:t>QA-команда</a:t>
            </a:r>
          </a:p>
          <a:p xmlns:a="http://schemas.openxmlformats.org/drawingml/2006/main">
            <a:pPr marL="0" lvl="0" indent="0" algn="ctr">
              <a:lnSpc>
                <a:spcPts val="2800"/>
              </a:lnSpc>
              <a:spcBef>
                <a:spcPct val="0"/>
              </a:spcBef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 u="none">
                <a:solidFill>
                  <a:srgbClr val="7F91B4"/>
                </a:solidFill>
                <a:latin typeface="Inter"/>
                <a:ea typeface="Inter"/>
                <a:cs typeface="Inter"/>
              </a:rPr>
              <a:t>Екатерина Кончина • Пётр Самохин • Никита Снегирев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50D7A57D-7D05-4AA4-9B76-BB0BD949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571500" cy="19050"/>
          </a:xfrm>
          <a:custGeom xmlns:a="http://schemas.openxmlformats.org/drawingml/2006/main">
            <a:rect l="l" t="t" r="r" b="b"/>
            <a:pathLst>
              <a:path w="762000" h="25400">
                <a:moveTo>
                  <a:pt x="0" y="0"/>
                </a:moveTo>
                <a:lnTo>
                  <a:pt x="762000" y="0"/>
                </a:lnTo>
                <a:lnTo>
                  <a:pt x="76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8E837478-DC6C-4B56-BA60-4E5DB72A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571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FFE2956F-317D-4787-B88F-6A81A4F0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571500"/>
          </a:xfrm>
          <a:custGeom xmlns:a="http://schemas.openxmlformats.org/drawingml/2006/main">
            <a:rect l="l" t="t" r="r" b="b"/>
            <a:pathLst>
              <a:path w="25400" h="762000">
                <a:moveTo>
                  <a:pt x="0" y="0"/>
                </a:moveTo>
                <a:lnTo>
                  <a:pt x="25400" y="0"/>
                </a:lnTo>
                <a:lnTo>
                  <a:pt x="25400" y="762000"/>
                </a:lnTo>
                <a:lnTo>
                  <a:pt x="0" y="762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06CAF0A4-7A1B-42B8-A905-53380C5A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60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C877DEC1-96A6-48DA-A7BD-A1716103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335500" y="9886950"/>
            <a:ext cx="571500" cy="19050"/>
          </a:xfrm>
          <a:custGeom xmlns:a="http://schemas.openxmlformats.org/drawingml/2006/main">
            <a:rect l="l" t="t" r="r" b="b"/>
            <a:pathLst>
              <a:path w="762000" h="25400">
                <a:moveTo>
                  <a:pt x="0" y="0"/>
                </a:moveTo>
                <a:lnTo>
                  <a:pt x="762000" y="0"/>
                </a:lnTo>
                <a:lnTo>
                  <a:pt x="76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C8B6BE86-B688-41B3-A280-697A64E8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335500" y="9858375"/>
            <a:ext cx="571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0" name="Freeform 30">
            <a:extLst xmlns:a="http://schemas.openxmlformats.org/drawingml/2006/main">
              <a:ext uri="{FF2B5EF4-FFF2-40B4-BE49-F238E27FC236}">
                <a16:creationId xmlns:a16="http://schemas.microsoft.com/office/drawing/2014/main" id="{746FBEC2-3406-4659-B206-5E2C0D44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887950" y="9334500"/>
            <a:ext cx="19050" cy="571500"/>
          </a:xfrm>
          <a:custGeom xmlns:a="http://schemas.openxmlformats.org/drawingml/2006/main">
            <a:rect l="l" t="t" r="r" b="b"/>
            <a:pathLst>
              <a:path w="25400" h="762000">
                <a:moveTo>
                  <a:pt x="0" y="0"/>
                </a:moveTo>
                <a:lnTo>
                  <a:pt x="25400" y="0"/>
                </a:lnTo>
                <a:lnTo>
                  <a:pt x="25400" y="762000"/>
                </a:lnTo>
                <a:lnTo>
                  <a:pt x="0" y="762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8B0B131E-0D8C-4398-91F8-DE53099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887950" y="9305925"/>
            <a:ext cx="19050" cy="60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9900918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43789B8F-1BE0-4C76-A4A6-132788C9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1B00129-B54E-40F2-9C69-FC8568FD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1744DA53-E41A-4EB0-BB7B-092BAB11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B802193-491E-4AEA-A5AE-53EEDAE7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34BA5D6-F323-4623-8ACF-2FE1DC4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7E4BF8C-C440-4708-BBE1-ECF6ED17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E25CF8-6146-4912-8AC1-1DE8400A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19100"/>
            <a:ext cx="16002000" cy="878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719"/>
              </a:lnSpc>
              <a:buNone/>
              <a:defRPr sz="30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Проект начинался с нуля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FDD499A-A57A-4466-8625-EA23C305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714500" cy="19050"/>
          </a:xfrm>
          <a:custGeom xmlns:a="http://schemas.openxmlformats.org/drawingml/2006/main">
            <a:rect l="l" t="t" r="r" b="b"/>
            <a:pathLst>
              <a:path w="2286000" h="25400">
                <a:moveTo>
                  <a:pt x="0" y="0"/>
                </a:moveTo>
                <a:lnTo>
                  <a:pt x="2286000" y="0"/>
                </a:lnTo>
                <a:lnTo>
                  <a:pt x="2286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3024537-E03A-44EE-A464-958CC448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714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FC7A7BDF-C585-4B36-9554-E8999E95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1381125"/>
            <a:ext cx="16002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Цель команды</a:t>
            </a:r>
          </a:p>
          <a:p xmlns:a="http://schemas.openxmlformats.org/drawingml/2006/main">
            <a:pPr algn="l"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F5F8FF"/>
                </a:solidFill>
                <a:latin typeface="Inter"/>
                <a:ea typeface="Inter"/>
                <a:cs typeface="Inter"/>
              </a:rPr>
              <a:t>построить систему автоматизированного контроля качества TeamCity — от тестового плана до CI и отчётности.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E8E838C5-DE92-4837-8CB6-F797EF0B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4A75CF2F-9E04-4C8F-9DFB-45CCAD9B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95D5BE6F-E001-435E-A345-6E0DF3B3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01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57442FFF-B98A-4C27-85A4-4E0D46D3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952750"/>
            <a:ext cx="4610100" cy="3905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Тесты и план</a:t>
            </a:r>
          </a:p>
          <a:p xmlns:a="http://schemas.openxmlformats.org/drawingml/2006/main">
            <a:pPr algn="l"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Не было готовых автотестов и согласованного тестового плана.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41339377-101C-4F72-AC00-7A47A9ED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F74C852-89AA-4F1F-8ADD-E9887B7C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B587E3C4-F748-4CE0-996C-66191321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02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3DE76124-2C50-427E-9DF7-5DAEBF1A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952750"/>
            <a:ext cx="4610100" cy="3905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Архитектура и CI</a:t>
            </a:r>
          </a:p>
          <a:p xmlns:a="http://schemas.openxmlformats.org/drawingml/2006/main">
            <a:pPr algn="l"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Не было единой структуры автоматизации и воспроизводимого CI-запуска.</a:t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88B3E963-13A1-4806-A7EB-9FC9A5F4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74B6F9C9-61BA-43A3-BD43-21CFDDE5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79B1D570-FFDF-4E72-92BC-7F901C43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03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5E13D523-1A8C-4EE5-9A51-259711A3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952750"/>
            <a:ext cx="4610100" cy="3905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Среда и результаты</a:t>
            </a:r>
          </a:p>
          <a:p xmlns:a="http://schemas.openxmlformats.org/drawingml/2006/main">
            <a:pPr algn="l"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TeamCity не подготавливался автоматически, а результаты анализировались разрозненно.</a:t>
            </a:r>
          </a:p>
        </p:txBody>
      </p:sp>
    </p:spTree>
    <p:extLst>
      <p:ext uri="{BB962C8B-B14F-4D97-AF65-F5344CB8AC3E}">
        <p14:creationId xmlns:p14="http://schemas.microsoft.com/office/powerpoint/2010/main" val="18270831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F960AA4-3C5E-47F9-A2E0-9C57F8B4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E2D193BC-6744-4320-8330-17CC864E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C692294-0694-4CA3-9588-35FC9B5F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895FA68-AF58-4865-B6A5-C4826071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5822205-7E77-4E8B-961A-BC2C5728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BAEABA2-BC10-4AFF-B85E-381A8C7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05F636-DE1B-4FD5-B309-057BA974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ts val="5040"/>
              </a:lnSpc>
              <a:spcBef>
                <a:spcPct val="0"/>
              </a:spcBef>
              <a:buNone/>
              <a:defRPr sz="28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850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Командный кейс 1. Автоматизация ключевых сценариев TeamCity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476009B-1672-48A8-9C32-616B74DF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95375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2F7B6F4-EBC2-4EFF-9271-D261A7B3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66800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E42BCC58-C099-4C87-B556-4002408B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866C2E-B1BD-4A31-A722-41F76EC2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DC0935F-66F3-40D4-B3CB-BB00CC57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Задача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3676CD3-C015-48C9-BF35-1E14CC25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924050"/>
            <a:ext cx="7353300" cy="28271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8000"/>
              </a:lnSpc>
              <a:spcBef>
                <a:spcPct val="0"/>
              </a:spcBef>
              <a:buNone/>
              <a:defRPr sz="2100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00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С нуля создать regression ключевых функций TeamCity на нескольких уровнях.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94E4EB79-0268-4739-B32C-FF35E282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28750"/>
            <a:ext cx="7810500" cy="742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D0D95812-4EDC-4730-A834-0ECB96C3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00175"/>
            <a:ext cx="7810500" cy="745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8136DB4-FF64-40C1-B098-86B52E10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657350"/>
            <a:ext cx="7353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Что сделала команда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FF234545-50CA-48B0-875F-95CE295E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2095500"/>
            <a:ext cx="7353300" cy="628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сформировала тестовый план и scope;</a:t>
            </a:r>
          </a:p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реализовала API-проверки проектов, configurations, build steps, пользователей и access tokens;</a:t>
            </a:r>
          </a:p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реализовала UI-сценарии входа и управления основными сущностями;</a:t>
            </a:r>
          </a:p>
          <a:p xmlns:a="http://schemas.openxmlformats.org/drawingml/2006/main">
            <a:pPr algn="l">
              <a:spcAft>
                <a:spcPts val="0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добавила DB- и configuration-проверки;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702E5964-0C7D-417E-A600-37AB5AAF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3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5B36DA2-D010-415E-B433-EFAF9A5A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1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A0622383-D2FB-472D-BCF8-EED91702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38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Результат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2DD5177A-FB47-415B-8031-5726B27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762625"/>
            <a:ext cx="7353300" cy="27851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50 API-проверок + 7 UI-сценариев × 3 браузера.</a:t>
            </a:r>
          </a:p>
          <a:p xmlns:a="http://schemas.openxmlformats.org/drawingml/2006/main">
            <a:pPr algn="l">
              <a:spcAft>
                <a:spcPts val="0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7F91B4"/>
                </a:solidFill>
                <a:latin typeface="Inter"/>
                <a:ea typeface="Inter"/>
                <a:cs typeface="Inter"/>
              </a:rPr>
              <a:t>Это 71 результат выполнения, а не 71 уникальный сценарий. Unit-тесты и отдельный contract regression в заявленный набор не входят.</a:t>
            </a:r>
          </a:p>
        </p:txBody>
      </p:sp>
    </p:spTree>
    <p:extLst>
      <p:ext uri="{BB962C8B-B14F-4D97-AF65-F5344CB8AC3E}">
        <p14:creationId xmlns:p14="http://schemas.microsoft.com/office/powerpoint/2010/main" val="18306735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F960AA4-3C5E-47F9-A2E0-9C57F8B4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E2D193BC-6744-4320-8330-17CC864E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C692294-0694-4CA3-9588-35FC9B5F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895FA68-AF58-4865-B6A5-C4826071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5822205-7E77-4E8B-961A-BC2C5728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BAEABA2-BC10-4AFF-B85E-381A8C7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05F636-DE1B-4FD5-B309-057BA974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ts val="5040"/>
              </a:lnSpc>
              <a:spcBef>
                <a:spcPct val="0"/>
              </a:spcBef>
              <a:buNone/>
              <a:defRPr sz="28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850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Командный кейс 2. Автоматизация запуска в GitHub Actions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476009B-1672-48A8-9C32-616B74DF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95375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2F7B6F4-EBC2-4EFF-9271-D261A7B3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66800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E42BCC58-C099-4C87-B556-4002408B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866C2E-B1BD-4A31-A722-41F76EC2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DC0935F-66F3-40D4-B3CB-BB00CC57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Задача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3676CD3-C015-48C9-BF35-1E14CC25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924050"/>
            <a:ext cx="7353300" cy="29025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8000"/>
              </a:lnSpc>
              <a:spcBef>
                <a:spcPct val="0"/>
              </a:spcBef>
              <a:buNone/>
              <a:defRPr sz="2100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00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Настроить запуск проверок в GitHub Actions с автоматическим развёртыванием и первичной настройкой отдельного чистого TeamCity-стенда.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94E4EB79-0268-4739-B32C-FF35E282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28750"/>
            <a:ext cx="7810500" cy="742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D0D95812-4EDC-4730-A834-0ECB96C3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00175"/>
            <a:ext cx="7810500" cy="745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8136DB4-FF64-40C1-B098-86B52E10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657350"/>
            <a:ext cx="7353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Что сделала команда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FF234545-50CA-48B0-875F-95CE295E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2095500"/>
            <a:ext cx="7353300" cy="628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автоматизировала развёртывание и первоначальную настройку TeamCity;</a:t>
            </a:r>
          </a:p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разделила API и три браузера на независимые jobs и стенды;</a:t>
            </a:r>
          </a:p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настроила последовательность: проверка БД → smoke → полный regression;</a:t>
            </a:r>
          </a:p>
          <a:p xmlns:a="http://schemas.openxmlformats.org/drawingml/2006/main">
            <a:pPr algn="l">
              <a:spcAft>
                <a:spcPts val="0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вынесла PostgreSQL regression в отдельный регулярный и ручной запуск.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702E5964-0C7D-417E-A600-37AB5AAF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3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5B36DA2-D010-415E-B433-EFAF9A5A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1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A0622383-D2FB-472D-BCF8-EED91702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38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Результат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2DD5177A-FB47-415B-8031-5726B27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762625"/>
            <a:ext cx="7353300" cy="27851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75" b="0">
                <a:solidFill>
                  <a:srgbClr val="F5F8FF"/>
                </a:solidFill>
                <a:latin typeface="Inter"/>
                <a:ea typeface="Inter"/>
                <a:cs typeface="Inter"/>
              </a:rPr>
              <a:t>Запуск не зависит от заранее подготовленного стенда. API и три браузера работают независимо, а критические падения становятся quality gate.</a:t>
            </a:r>
          </a:p>
        </p:txBody>
      </p:sp>
    </p:spTree>
    <p:extLst>
      <p:ext uri="{BB962C8B-B14F-4D97-AF65-F5344CB8AC3E}">
        <p14:creationId xmlns:p14="http://schemas.microsoft.com/office/powerpoint/2010/main" val="18306735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F960AA4-3C5E-47F9-A2E0-9C57F8B4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E2D193BC-6744-4320-8330-17CC864E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C692294-0694-4CA3-9588-35FC9B5F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895FA68-AF58-4865-B6A5-C4826071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5822205-7E77-4E8B-961A-BC2C5728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BAEABA2-BC10-4AFF-B85E-381A8C7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05F636-DE1B-4FD5-B309-057BA974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ts val="5040"/>
              </a:lnSpc>
              <a:spcBef>
                <a:spcPct val="0"/>
              </a:spcBef>
              <a:buNone/>
              <a:defRPr sz="28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850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Командный кейс 3. Единая отчётность в Allure и QA-дашбордах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476009B-1672-48A8-9C32-616B74DF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95375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2F7B6F4-EBC2-4EFF-9271-D261A7B3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66800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E42BCC58-C099-4C87-B556-4002408B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866C2E-B1BD-4A31-A722-41F76EC2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DC0935F-66F3-40D4-B3CB-BB00CC57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Задача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3676CD3-C015-48C9-BF35-1E14CC25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924050"/>
            <a:ext cx="7353300" cy="28271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8000"/>
              </a:lnSpc>
              <a:spcBef>
                <a:spcPct val="0"/>
              </a:spcBef>
              <a:buNone/>
              <a:defRPr sz="2100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00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Сделать результаты распределённого прогона понятными всей команде и сохранить историю и диагностику.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94E4EB79-0268-4739-B32C-FF35E282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28750"/>
            <a:ext cx="7810500" cy="742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D0D95812-4EDC-4730-A834-0ECB96C3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00175"/>
            <a:ext cx="7810500" cy="745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8136DB4-FF64-40C1-B098-86B52E10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657350"/>
            <a:ext cx="7353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Что сделала команда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FF234545-50CA-48B0-875F-95CE295E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2095500"/>
            <a:ext cx="7353300" cy="628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объединила результаты API и трёх браузеров в один Allure-отчёт;</a:t>
            </a:r>
          </a:p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сделала отчёт понятным: сценарии, шаги, браузеры и причины падений;</a:t>
            </a:r>
          </a:p>
          <a:p xmlns:a="http://schemas.openxmlformats.org/drawingml/2006/main">
            <a:pPr algn="l">
              <a:spcAft>
                <a:spcPts val="14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настроила историю запусков, постоянные ссылки, логи и диагностику;</a:t>
            </a:r>
          </a:p>
          <a:p xmlns:a="http://schemas.openxmlformats.org/drawingml/2006/main">
            <a:pPr algn="l">
              <a:spcAft>
                <a:spcPts val="0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•  </a:t>
            </a: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добавила QA-дашборд с метриками прогонов и отдельный dashboard code coverage.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702E5964-0C7D-417E-A600-37AB5AAF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3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5B36DA2-D010-415E-B433-EFAF9A5A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1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A0622383-D2FB-472D-BCF8-EED91702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38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Результат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2DD5177A-FB47-415B-8031-5726B27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762625"/>
            <a:ext cx="7353300" cy="27851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175" b="0">
                <a:solidFill>
                  <a:srgbClr val="F5F8FF"/>
                </a:solidFill>
                <a:latin typeface="Inter"/>
                <a:ea typeface="Inter"/>
                <a:cs typeface="Inter"/>
              </a:rPr>
              <a:t>Команда видит сценарий, браузер, шаг и причину падения, сравнивает результаты в динамике и переходит к диагностике конкретного запуска.</a:t>
            </a:r>
          </a:p>
        </p:txBody>
      </p:sp>
    </p:spTree>
    <p:extLst>
      <p:ext uri="{BB962C8B-B14F-4D97-AF65-F5344CB8AC3E}">
        <p14:creationId xmlns:p14="http://schemas.microsoft.com/office/powerpoint/2010/main" val="18306735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675ACDE3-C610-4EB1-A6BF-847BC3E9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ED684678-E218-4ACA-8135-905046BE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44A9F3AE-FF70-469A-9BCF-A5CCFB79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4133850"/>
            <a:ext cx="13335000" cy="16974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ts val="6683"/>
              </a:lnSpc>
              <a:spcBef>
                <a:spcPct val="0"/>
              </a:spcBef>
              <a:buNone/>
              <a:defRPr sz="2925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925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Проблемы, с которыми команда столкнулась во время работы над проектом</a:t>
            </a:r>
          </a:p>
        </p:txBody>
      </p:sp>
    </p:spTree>
    <p:extLst>
      <p:ext uri="{BB962C8B-B14F-4D97-AF65-F5344CB8AC3E}">
        <p14:creationId xmlns:p14="http://schemas.microsoft.com/office/powerpoint/2010/main" val="5986729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BAA0C249-1A57-4A9E-ACC8-7A22A792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D55CF9D-8937-4910-BB9C-C3651318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A6447A43-1531-4E75-BF15-5723FB11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CA126080-5623-4291-865C-A13207A2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5331309F-DB78-4854-8159-5ACA68BD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D74342-5202-42CF-8C38-20D4570F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5F874776-F042-41E3-851F-1B1A7D83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ts val="5040"/>
              </a:lnSpc>
              <a:spcBef>
                <a:spcPct val="0"/>
              </a:spcBef>
              <a:buNone/>
              <a:defRPr sz="28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850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1. TeamCity останавливался на первом запуске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FDD000DE-E968-46CD-A301-D5556AB0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95375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A0119EA3-F3D2-4E71-A450-E57C4227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66800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3B0A29EC-1488-4DF6-AC63-F5C19D51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DDBF2B82-BC72-461A-A4EC-D3A9FA0F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43EED28A-80DB-426E-87B0-2B8B6DEE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Что произошло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AC10C73F-DB4D-4939-8082-74435BD3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924050"/>
            <a:ext cx="7353300" cy="406361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На чистом runner обычного запуска Docker-контейнера оказалось недостаточно. TeamCity требовал подтверждения first start, выбора БД, принятия лицензии, создания администратора, access token и авторизации Agents.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195F6ADC-D4D7-4A2E-AB4E-AFD7F2DD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2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A752DED6-C49A-4806-85A0-041B6560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0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50E2278E-8359-40E2-81E9-5E50A97D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Почему это глобальная проблема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E655022C-9B5C-47A9-9898-C390255F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924050"/>
            <a:ext cx="7353300" cy="282734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 завершения setup невозможно выполнить ни API-, ни UI-, ни DB-проверки. Проблема блокировала весь CI-контур.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CC7E13B3-08C9-46D3-9564-F267B14C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3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187660A-3540-4F42-BCCD-6CE0D9CE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21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98D7B031-3611-4EE9-8B3C-80DC6AA9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38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Решение команды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2D960312-CBFD-4A7F-A572-053556B7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734050"/>
            <a:ext cx="7353300" cy="33968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Команда автоматизировала первоначальную настройку TeamCity: подтверждение первого запуска, выбор базы данных, принятие лицензии, создание временного администратора и ключа доступа. Перед тестами система проверяет, что TeamCity полностью настроен и готов к работе.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6E114334-14AD-4D3B-AC0D-CEAAEA75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523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6DC4040B-3015-4D64-A4AD-CD889037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521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A8411C9A-C8C1-4D84-9C85-6D1BD075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538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Результат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3193767C-BC84-4548-8372-00A31A09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5867400"/>
            <a:ext cx="7353300" cy="3277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В каждом CI job автоматически разворачивается и настраивается отдельный чистый TeamCity-стенд; ручное вмешательство не требуется.</a:t>
            </a:r>
          </a:p>
        </p:txBody>
      </p:sp>
    </p:spTree>
    <p:extLst>
      <p:ext uri="{BB962C8B-B14F-4D97-AF65-F5344CB8AC3E}">
        <p14:creationId xmlns:p14="http://schemas.microsoft.com/office/powerpoint/2010/main" val="5215937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F960AA4-3C5E-47F9-A2E0-9C57F8B4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E2D193BC-6744-4320-8330-17CC864E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C692294-0694-4CA3-9588-35FC9B5F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895FA68-AF58-4865-B6A5-C4826071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5822205-7E77-4E8B-961A-BC2C5728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BAEABA2-BC10-4AFF-B85E-381A8C7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05F636-DE1B-4FD5-B309-057BA974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ts val="5040"/>
              </a:lnSpc>
              <a:spcBef>
                <a:spcPct val="0"/>
              </a:spcBef>
              <a:buNone/>
              <a:defRPr sz="28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850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2. Параллельные тесты влияли друг на друга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476009B-1672-48A8-9C32-616B74DF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95375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2F7B6F4-EBC2-4EFF-9271-D261A7B3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66800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E42BCC58-C099-4C87-B556-4002408B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7810500" cy="3857625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866C2E-B1BD-4A31-A722-41F76EC2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7810500" cy="388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DC0935F-66F3-40D4-B3CB-BB00CC57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Что произошло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3676CD3-C015-48C9-BF35-1E14CC25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924050"/>
            <a:ext cx="7353300" cy="3267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При параллельном запуске несколько API- и UI-тестов одновременно создавали, изменяли и удаляли данные на одном TeamCity-стенде. Один тест мог перезаписать или удалить данные, которые в этот момент использовал другой. Это создавало ложные падения и делало результаты нестабильными и невалидными.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94E4EB79-0268-4739-B32C-FF35E282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28750"/>
            <a:ext cx="7810500" cy="742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D0D95812-4EDC-4730-A834-0ECB96C3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00175"/>
            <a:ext cx="7810500" cy="745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8136DB4-FF64-40C1-B098-86B52E10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657350"/>
            <a:ext cx="73533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Решение команды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FF234545-50CA-48B0-875F-95CE295E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2171700"/>
            <a:ext cx="7353300" cy="621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• выделила отдельный чистый TeamCity-стенд для API и каждого браузера;</a:t>
            </a:r>
          </a:p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• изолировала тестовые данные с помощью уникальных имён и идентификаторов;</a:t>
            </a:r>
          </a:p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• закрепила за каждым тестом создание и удаление собственных объектов;</a:t>
            </a:r>
          </a:p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• согласовала количество параллельных тестов с количеством TeamCity Agents.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702E5964-0C7D-417E-A600-37AB5AAF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476875"/>
            <a:ext cx="7810500" cy="3381375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5B36DA2-D010-415E-B433-EFAF9A5A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448300"/>
            <a:ext cx="7810500" cy="3409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A0622383-D2FB-472D-BCF8-EED91702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619750"/>
            <a:ext cx="7353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Результат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2DD5177A-FB47-415B-8031-5726B27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6000750"/>
            <a:ext cx="7353300" cy="2619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Тесты выполняются параллельно, но не меняют данные друг друга. Результаты стали стабильными и воспроизводимыми: падение указывает на реальную проблему, а не на конфликт между одновременно работающими тестами.</a:t>
            </a:r>
          </a:p>
        </p:txBody>
      </p:sp>
    </p:spTree>
    <p:extLst>
      <p:ext uri="{BB962C8B-B14F-4D97-AF65-F5344CB8AC3E}">
        <p14:creationId xmlns:p14="http://schemas.microsoft.com/office/powerpoint/2010/main" val="18306735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4AF5C912-55E3-455C-90C4-8A5808F9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EB8E03A1-F99F-494B-B2A1-2A1E20AA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88E5D10-644E-45CB-ABEA-192D8007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EE885FB-C32E-41B5-B73D-2D797A4D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92D4F739-F18A-4AC1-B7F9-25BB0D7E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36D0E6-89A0-4B2A-8D01-B3233BAD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D535FC-E1E0-4A77-83D8-87B72B62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ts val="5040"/>
              </a:lnSpc>
              <a:spcBef>
                <a:spcPct val="0"/>
              </a:spcBef>
              <a:buNone/>
              <a:defRPr sz="28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850" b="1" u="none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3. Невоспроизводимость тестового окружения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8EF8A72-52F1-4D06-B958-90C8BE81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95375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42F40019-A468-42F4-B435-1DA2CB91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066800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A1121E23-F90E-4B0E-977C-77EB0CC2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7810500" cy="3857625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8106BBC0-3F56-4742-A757-4F94FBFE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7810500" cy="388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82B02B9-1506-44B8-A7C2-340A0116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Что произошло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B3D413C3-C093-4757-8720-C1A0AD32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1924050"/>
            <a:ext cx="7353300" cy="3267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Локальные запуски и запуски на чистых CI runners могли выполняться в разных условиях. Результат зависел от версии и состояния TeamCity, настроек базы данных, credentials, доступности Agents и готовности сервисов. Один и тот же набор тестов мог проходить на заранее подготовленном стенде и падать после развёртывания с нуля.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EC827067-1A69-47DC-ACEF-4E98CFB4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2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8125462C-F865-4F61-9778-36BBEC04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140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07EB3888-C4B6-4A4C-8375-30694D32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57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Почему это глобальная проблема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4255652D-72FD-47EE-806E-01530084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2190750"/>
            <a:ext cx="7353300" cy="34998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Различия окружений влияли одновременно на API-, UI- и DB-проверки. Команда не могла однозначно определить, связано ли падение с дефектом TeamCity, тестом или конфигурацией стенда.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ACBFAFDA-4DFD-4393-8181-6BF28497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476875"/>
            <a:ext cx="7810500" cy="3381375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06C7DB63-5F5D-4EBE-B53C-983FA7A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448300"/>
            <a:ext cx="7810500" cy="3409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D243E146-973D-44C4-A373-CD49B216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5619750"/>
            <a:ext cx="7353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Решение команды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FFB41574-ED9D-4319-9BAC-CBA66365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1600" y="6000750"/>
            <a:ext cx="7353300" cy="2619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Команда зафиксировала конфигурацию окружения в Docker Compose и CI actions, централизовала параметры запуска и credentials, автоматизировала настройку TeamCity и добавила healthcheck, preflight и проверки готовности Server, Agents и базы данных. Для API и каждого браузера поднимается отдельный чистый стенд.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8F68C78D-D4ED-4B7A-BF53-D8D79E27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5238750"/>
            <a:ext cx="7810500" cy="3619500"/>
          </a:xfrm>
          <a:custGeom xmlns:a="http://schemas.openxmlformats.org/drawingml/2006/main">
            <a:rect l="l" t="t" r="r" b="b"/>
            <a:pathLst>
              <a:path w="10414000" h="4826000">
                <a:moveTo>
                  <a:pt x="482600" y="0"/>
                </a:moveTo>
                <a:lnTo>
                  <a:pt x="9931400" y="0"/>
                </a:lnTo>
                <a:cubicBezTo>
                  <a:pt x="10197933" y="0"/>
                  <a:pt x="10414000" y="216067"/>
                  <a:pt x="10414000" y="482600"/>
                </a:cubicBezTo>
                <a:lnTo>
                  <a:pt x="10414000" y="4343400"/>
                </a:lnTo>
                <a:cubicBezTo>
                  <a:pt x="10414000" y="4609933"/>
                  <a:pt x="10197933" y="4826000"/>
                  <a:pt x="9931400" y="4826000"/>
                </a:cubicBezTo>
                <a:lnTo>
                  <a:pt x="482600" y="4826000"/>
                </a:lnTo>
                <a:cubicBezTo>
                  <a:pt x="216067" y="4826000"/>
                  <a:pt x="0" y="4609933"/>
                  <a:pt x="0" y="4343400"/>
                </a:cubicBezTo>
                <a:lnTo>
                  <a:pt x="0" y="482600"/>
                </a:lnTo>
                <a:cubicBezTo>
                  <a:pt x="0" y="216067"/>
                  <a:pt x="216067" y="0"/>
                  <a:pt x="4826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E5D6F746-F196-4442-BCBE-E3C97769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5210175"/>
            <a:ext cx="7810500" cy="3648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1035398A-E88C-4F50-ABE7-CDEEA5F2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5381625"/>
            <a:ext cx="73533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Результат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06F0B7A2-40BD-4C2C-B64F-C8908D18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5734050"/>
            <a:ext cx="7353300" cy="406361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000"/>
              </a:lnSpc>
              <a:spcBef>
                <a:spcPct val="0"/>
              </a:spcBef>
              <a:buNone/>
              <a:defRPr sz="1913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1913" u="none">
                <a:solidFill>
                  <a:srgbClr val="B9C5DD"/>
                </a:solidFill>
                <a:latin typeface="Inter"/>
                <a:ea typeface="Inter"/>
                <a:cs typeface="Inter"/>
              </a:rPr>
              <a:t>На чистом runner воспроизводится одинаковый порядок развёртывания и настройки окружения. Запуск больше не зависит от вручную подготовленного состояния, а результаты разных jobs можно сравнивать между собой.</a:t>
            </a:r>
          </a:p>
        </p:txBody>
      </p:sp>
    </p:spTree>
    <p:extLst>
      <p:ext uri="{BB962C8B-B14F-4D97-AF65-F5344CB8AC3E}">
        <p14:creationId xmlns:p14="http://schemas.microsoft.com/office/powerpoint/2010/main" val="12675308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43789B8F-1BE0-4C76-A4A6-132788C9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1B00129-B54E-40F2-9C69-FC8568FD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1744DA53-E41A-4EB0-BB7B-092BAB11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B802193-491E-4AEA-A5AE-53EEDAE7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34BA5D6-F323-4623-8ACF-2FE1DC4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7E4BF8C-C440-4708-BBE1-ECF6ED17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E25CF8-6146-4912-8AC1-1DE8400A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19100"/>
            <a:ext cx="16002000" cy="878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719"/>
              </a:lnSpc>
              <a:buNone/>
              <a:defRPr sz="30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вклад Екатерины Кончиной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FDD499A-A57A-4466-8625-EA23C305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714500" cy="19050"/>
          </a:xfrm>
          <a:custGeom xmlns:a="http://schemas.openxmlformats.org/drawingml/2006/main">
            <a:rect l="l" t="t" r="r" b="b"/>
            <a:pathLst>
              <a:path w="2286000" h="25400">
                <a:moveTo>
                  <a:pt x="0" y="0"/>
                </a:moveTo>
                <a:lnTo>
                  <a:pt x="2286000" y="0"/>
                </a:lnTo>
                <a:lnTo>
                  <a:pt x="2286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3024537-E03A-44EE-A464-958CC448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714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FC7A7BDF-C585-4B36-9554-E8999E95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1381125"/>
            <a:ext cx="16002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Три самостоятельных направления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Каждый кейс представлен по методологии STAR: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Situation → Task → Action → Result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E8E838C5-DE92-4837-8CB6-F797EF0B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4A75CF2F-9E04-4C8F-9DFB-45CCAD9B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95D5BE6F-E001-435E-A345-6E0DF3B3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57442FFF-B98A-4C27-85A4-4E0D46D3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Построение CI-пайплайна с Telegram-уведомлениями.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41339377-101C-4F72-AC00-7A47A9ED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F74C852-89AA-4F1F-8ADD-E9887B7C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B587E3C4-F748-4CE0-996C-66191321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3DE76124-2C50-427E-9DF7-5DAEBF1A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Независимая DB-верификация состояния TeamCity.</a:t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88B3E963-13A1-4806-A7EB-9FC9A5F4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74B6F9C9-61BA-43A3-BD43-21CFDDE5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79B1D570-FFDF-4E72-92BC-7F901C43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5E13D523-1A8C-4EE5-9A51-259711A3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Создание системы отчётности: Allure, QA-метрики и coverage.</a:t>
            </a:r>
          </a:p>
        </p:txBody>
      </p:sp>
    </p:spTree>
    <p:extLst>
      <p:ext uri="{BB962C8B-B14F-4D97-AF65-F5344CB8AC3E}">
        <p14:creationId xmlns:p14="http://schemas.microsoft.com/office/powerpoint/2010/main" val="18270831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93356EC-DE46-49B5-B6B7-FDFDEFCF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0DC52C3B-0809-426C-AFD3-8E82741A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BD263380-D619-403A-A5C9-47D6FC3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67A1CF5-9EF1-4C12-BC7F-2F658889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2F9F3C1C-D100-4C91-B26F-D2B90B96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07B8176-2DB4-469D-AA16-DB5331AC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041099-8012-4B28-978C-59C487CB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1. CI-пайплайн и Telegram-уведомления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0EC79CD3-1F7B-4B3A-A5BA-A9C1FEA3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8ADEFDA-11FD-4ABF-B1DF-BF07D9C0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2F7BE282-66E2-4FE5-A74C-AE3E60F8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65108B5C-C99C-416C-B71E-CCBD3AB0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9FA1082A-0D21-4440-B8ED-BF5D3907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90FCBC77-336B-449D-9FD3-F3387A73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Изначально автотесты запускались только локально на компьютерах участников команды. Результат зависел от настроенного окружения конкретного человека, а автоматического запуска при изменениях в проекте и уведомлений не было.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BADB773F-7EB1-40A9-A5FD-00DCEB94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22B137D6-5AF7-4F22-8426-0670EF8D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5A0B9E1B-5E83-455C-8B40-2FB73D6C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FDA73E98-9C7F-4132-8143-54045442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Построить полный CI-процесс: от автоматического развёртывания TeamCity и запуска проверок до понятного уведомления команды о результате.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51F0120E-14B3-44DA-8EC0-450B4FDF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B469438E-DC98-4C1A-A8D9-58308FBF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1FCBAB95-8C12-4076-B4D8-CB355AE0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9F91ECE7-EA05-4163-836F-1B30AEAE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настроила GitHub Actions pipeline с проверкой кода, автоматической подготовкой TeamCity, smoke gate, API- и кроссбраузерным regression. Также разработала Telegram-уведомления со статусом jobs, данными PR и ссылками на Allure и запуск.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955A60E8-EE01-449C-8B10-5D7DDB87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A9BDF9C4-03ED-4680-815B-37A18736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0A132B54-DC32-4B52-8AE8-406EB19E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3AF2EB66-B552-4965-BFEF-F6578FD0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Каждый PR проходит воспроизводимую проверку на чистом стенде, а команда сразу получает в Telegram итог прогона и ссылки для анализа ошибок.</a:t>
            </a:r>
          </a:p>
        </p:txBody>
      </p:sp>
    </p:spTree>
    <p:extLst>
      <p:ext uri="{BB962C8B-B14F-4D97-AF65-F5344CB8AC3E}">
        <p14:creationId xmlns:p14="http://schemas.microsoft.com/office/powerpoint/2010/main" val="13027468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F0338F6-10BB-44EC-89D2-F3911CBF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1D95B139-7626-4519-B1A8-68AAF253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E291A2C2-ACC6-4860-AC55-E7415DF9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799B9DE5-1928-4A72-8CF6-972B9A03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33805DBF-69DD-449E-978B-252DDC24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AD91CEEF-4AE3-4B40-911F-07C0492C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894052-8637-417D-8B13-8E67ADF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2. Независимая DB-верификация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752F4479-D838-461B-8942-8AFA18B4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14D4D58A-7C87-463B-BDAE-74A26B67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6A165E95-065A-4021-8F9E-590DC8C5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DD4563EA-522C-4837-993D-2BEA705E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88483D53-C9DD-4183-B1D7-55CA451D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20F1C69D-4853-499A-948B-C54668A1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Успешный REST-ответ не доказывал, что изменения действительно сохранились во внутреннем состоянии TeamCity. При этом прямое подключение к работающей HSQLDB было небезопасным.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511AE964-FE7A-42EB-99F2-C40B3A98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0210D554-D7A9-4C3B-A6E8-8BBCC5AA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B5957637-414A-4346-AE30-1FEC317A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D8A20B30-F9E7-403C-B9B0-157DD151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Создать единый безопасный механизм проверки данных для HSQLDB и PostgreSQL без SQL внутри самих тестов.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F27EDD38-5298-44A6-9C2F-062EED6F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B766CF8E-00FC-46A0-8EFC-D065D878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99CA10F8-DDFD-4685-BD6D-151D9B87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660BF31B-70DD-42C2-A52C-92A713EE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разделила DB-слой на запросы, исполнители и клиент; реализовала безопасное чтение HSQLDB через backup snapshot и read-only подключение к PostgreSQL; добавила проверки сохранения и удаления основных сущностей и database preflight.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3FD08DD2-6797-48FB-88C7-3274661F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33DA7FF6-9071-4CA3-9D4F-800E71FC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5EAB218E-4284-4D57-A231-DC8B1485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0D4F8D4C-C123-4910-A669-EDB8D325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API-проверки получили независимое подтверждение на уровне базы данных. Одна тестовая логика работает с HSQLDB и PostgreSQL, не вмешиваясь в работу TeamCity.</a:t>
            </a:r>
          </a:p>
        </p:txBody>
      </p:sp>
    </p:spTree>
    <p:extLst>
      <p:ext uri="{BB962C8B-B14F-4D97-AF65-F5344CB8AC3E}">
        <p14:creationId xmlns:p14="http://schemas.microsoft.com/office/powerpoint/2010/main" val="5868689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87CE61CF-1775-419C-8D89-4DC4BEC4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2DD13A24-258C-4930-88A8-3B7CC4D0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726667F7-6577-49C4-8959-B08FF2E8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0B58A164-5AB2-451E-94D3-222D3BE8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C2407F7-ED44-4B33-9548-113C69D7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B8E7C99B-40D0-4D84-89BF-19280314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580A0C1C-4F75-4DBC-9BE6-52DA045D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3. Система отчётности и QA-метрик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FB3F85B8-482A-4689-A7E2-9235144C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F1DC894F-A274-466E-8CC3-DD232A55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C1DC44B8-CD2C-45DF-B32A-D9EA34E7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5DF3236B-BCED-475C-AAE7-58A60F16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09AFA2-EABF-417B-9CC8-2A491B75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38EB8C10-7219-41B3-877E-BF744714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Результаты API и трёх браузеров формировались отдельно, а один Allure-отчёт не показывал динамику качества, нестабильные тесты и изменение покрытия.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5CBC308B-9C51-47F3-998F-9C1CDB5B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E22FA080-8DBE-4F7A-B74B-A751CCF6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DEA8733-40B4-4576-8481-CA45D49C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EB7FA41C-8728-4792-A167-61402E34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Создать единую систему, в которой можно увидеть текущий результат, историю прогонов, метрики стабильности и покрытие API-фреймворка.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97DCF1F7-7AC0-4F64-9195-709C0984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9B037325-B706-4C91-B9A3-27C8AA68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A2B64E37-BF8D-4BA2-9E93-02C0C484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BDDA079F-A878-4280-9A7A-ACC8B391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объединила API, Chromium, Firefox и WebKit в общий Allure-отчёт; настроила историю и постоянные ссылки; разработала QA metrics и coverage dashboards; связала показатели с конкретными прогонами.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76465CEE-AD0E-42B4-8671-092F6CF0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A7D91A0D-4E56-4705-8B2D-9B5097F1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A408C0E4-FFFF-467E-A555-D2D7CAF0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86B6FE70-2CDE-410B-BAE1-AD0BE85B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Команда видит общий результат автоматизации, сравнивает прогоны, находит flaky- и медленные тесты, контролирует покрытие и переходит от метрики к нужному отчёту.</a:t>
            </a:r>
          </a:p>
        </p:txBody>
      </p:sp>
    </p:spTree>
    <p:extLst>
      <p:ext uri="{BB962C8B-B14F-4D97-AF65-F5344CB8AC3E}">
        <p14:creationId xmlns:p14="http://schemas.microsoft.com/office/powerpoint/2010/main" val="19343109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43789B8F-1BE0-4C76-A4A6-132788C9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1B00129-B54E-40F2-9C69-FC8568FD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1744DA53-E41A-4EB0-BB7B-092BAB11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B802193-491E-4AEA-A5AE-53EEDAE7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34BA5D6-F323-4623-8ACF-2FE1DC4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7E4BF8C-C440-4708-BBE1-ECF6ED17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E25CF8-6146-4912-8AC1-1DE8400A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19100"/>
            <a:ext cx="16002000" cy="878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719"/>
              </a:lnSpc>
              <a:buNone/>
              <a:defRPr sz="30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Конкретные проблемы, решённые Екатериной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FDD499A-A57A-4466-8625-EA23C305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714500" cy="19050"/>
          </a:xfrm>
          <a:custGeom xmlns:a="http://schemas.openxmlformats.org/drawingml/2006/main">
            <a:rect l="l" t="t" r="r" b="b"/>
            <a:pathLst>
              <a:path w="2286000" h="25400">
                <a:moveTo>
                  <a:pt x="0" y="0"/>
                </a:moveTo>
                <a:lnTo>
                  <a:pt x="2286000" y="0"/>
                </a:lnTo>
                <a:lnTo>
                  <a:pt x="2286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3024537-E03A-44EE-A464-958CC448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714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FC7A7BDF-C585-4B36-9554-E8999E95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1381125"/>
            <a:ext cx="16002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Три технических STAR-кейса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Формат каждой истории: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Симптом → задача → исправление → подтверждение результата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E8E838C5-DE92-4837-8CB6-F797EF0B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4A75CF2F-9E04-4C8F-9DFB-45CCAD9B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95D5BE6F-E001-435E-A345-6E0DF3B3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57442FFF-B98A-4C27-85A4-4E0D46D3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CI-стенд с HSQLDB нельзя было переиспользовать для PostgreSQL.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41339377-101C-4F72-AC00-7A47A9ED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F74C852-89AA-4F1F-8ADD-E9887B7C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B587E3C4-F748-4CE0-996C-66191321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3DE76124-2C50-427E-9DF7-5DAEBF1A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DB-клиент для HSQLDB не подходил для работы с PostgreSQL.</a:t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88B3E963-13A1-4806-A7EB-9FC9A5F4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74B6F9C9-61BA-43A3-BD43-21CFDDE5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79B1D570-FFDF-4E72-92BC-7F901C43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5E13D523-1A8C-4EE5-9A51-259711A3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UI-тесты падали нестабильно, а причину было сложно локализовать.</a:t>
            </a:r>
          </a:p>
        </p:txBody>
      </p:sp>
    </p:spTree>
    <p:extLst>
      <p:ext uri="{BB962C8B-B14F-4D97-AF65-F5344CB8AC3E}">
        <p14:creationId xmlns:p14="http://schemas.microsoft.com/office/powerpoint/2010/main" val="18270831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A67DA6B-8348-4018-984A-925269D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ABEE567E-82D1-4A7A-A5E9-D45F7C58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4549F52-25B6-4ABB-9B60-03F893A9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1FD5291C-B9E6-42FD-90ED-BF29121B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CF9D61B3-DFC1-4FE2-89F3-1A49277E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023BF51-3F34-4C8A-9115-58DBC443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C34A4D-C605-481B-B458-73BFFF29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1. Для PostgreSQL потребовался отдельный CI-стенд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BB2E89FE-45DF-4E66-A174-09F8EE88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26D35697-0EB9-4D12-A5B3-E5C2F1A4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97C4B488-90CE-452D-AE32-873AB7A8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666A812-7896-428B-8009-3E4B5BBD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871B385-47F1-41BF-9D92-A0166015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AA8A7ECA-98C6-4645-8FBB-8AB583E9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Основной CI-стенд запускал TeamCity со встроенной HSQLDB внутри готового окружения. PostgreSQL требовала отдельного контейнера, собственного хранилища и сети. Если база не успевала запуститься или TeamCity не получал JDBC-драйвер и настройки подключения, сервер не стартовал и тесты не выполнялись.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D2F09E9A-F3FC-459C-AB7D-997E7B50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348CCE9C-A609-486B-9338-2E64389D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Построить отдельный воспроизводимый стенд TeamCity с PostgreSQL, который можно поднять на чистом runner без ручной настройки.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40002CCE-4250-42BB-992D-0FD20B54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B022EF4C-D6CC-4899-9AB2-65C8B000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38A9A9E6-5628-4FDE-891A-DCD28F6D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1B8DB5DF-7A72-4D3F-A43D-C52958BE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создала Docker Compose с отдельными контейнерами TeamCity Server, Agents и PostgreSQL 17.5; добавила healthcheck базы и правильный порядок запуска; автоматизировала установку JDBC-драйвера, подготовку Data Directory и передачу временных credentials.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011C11-2AB6-4CF0-AA81-0A2B5BD6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F18A6DF3-0F65-43FE-ADF8-A308D3E8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TeamCity с PostgreSQL автоматически разворачивается в отдельном CI-контуре. Полный API- и UI-regression запускается вручную и по nightly-расписанию, не увеличивая время обязательных PR-проверок.</a:t>
            </a:r>
          </a:p>
        </p:txBody>
      </p:sp>
    </p:spTree>
    <p:extLst>
      <p:ext uri="{BB962C8B-B14F-4D97-AF65-F5344CB8AC3E}">
        <p14:creationId xmlns:p14="http://schemas.microsoft.com/office/powerpoint/2010/main" val="211078664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D54C4E3-4C7C-4A47-9E83-9F1DE08C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67E03D8D-B5B6-4873-AF4C-21999648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078C6C65-1B92-4EC5-830B-9CC59A0E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0615F91C-49DC-4B21-B288-90A2DD52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3F008234-5255-4303-89C0-72CCF835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A7806A2-C2BA-4AC6-BB59-8DCB7D88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9D5F67-06C8-4F6C-8335-D6803406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2. DB-клиент для HSQLDB не работал с PostgreSQL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D1175FD6-E5CA-4413-8A73-FFEA481D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B8A992C-F077-47A4-AFCE-90281135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97A1481C-DA52-4461-BA5D-9F006CCE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3691B4E0-A365-4AB0-BBFF-25E55A3C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FF8C7B53-FFF3-4986-B2BD-550285DD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74DFFBD1-A9BA-4C83-9CD2-8072167F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DB-проверки для встроенной HSQLDB читали данные из backup snapshot TeamCity. После подключения PostgreSQL этот механизм нельзя было использовать напрямую: внешняя база требовала отдельного соединения и другого способа выполнения запросов. Без нового клиента тесты не могли проверять состояние PostgreSQL.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8946D0-17D6-4BB6-8BBC-FFE4C9C7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702B8D77-B5E2-4A0D-A18E-94FEDC59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Добавить поддержку PostgreSQL, не дублируя DB-проверки и не добавляя SQL в сами тесты.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5726F44C-F2AF-40DC-BAE3-E066BFB3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0906E5CE-245B-4B9B-BB9D-DB4A1151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03E942ED-2AC5-41EF-AFAB-93C41A63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691F3A84-7543-42E4-905A-F8E45DF7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разработала отдельные PostgreSQLDatabaseClient и PostgreSQLExecutor, настроила подключение через DSN и перевела транзакции в read-only режим. Фабрика автоматически выбирает PostgreSQL или backup adapter, а тесты используют общий DBRequest и одинаковые verification steps.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867D42D1-8A51-4ACE-A6A4-6CC74792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F0330BAE-7AC0-4886-8C85-53B61622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Одни и те же DB-проверки работают с двумя источниками: HSQLDB читается через безопасный snapshot, а PostgreSQL — через прямое read-only соединение. Тестовую логику и SQL дублировать не пришлось.</a:t>
            </a:r>
          </a:p>
        </p:txBody>
      </p:sp>
    </p:spTree>
    <p:extLst>
      <p:ext uri="{BB962C8B-B14F-4D97-AF65-F5344CB8AC3E}">
        <p14:creationId xmlns:p14="http://schemas.microsoft.com/office/powerpoint/2010/main" val="17041812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DCF63ED-FA92-41F3-B57C-59EA9BD2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C9AF91C8-07D2-4772-8D7D-6EAB85CA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06580E8-EBB4-4DC2-A815-F563B8DB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40FC9FC9-DCF0-47BC-96C6-E4427C98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621C7BE0-F639-4345-8440-8933CDF4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270C2D9-03E2-4E52-AF10-250C4616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57B86E2B-76C0-4232-8FDD-D8000EF1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3. UI-тесты падали нестабильно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EE8A5A7B-68CE-40EF-B1F9-35F55352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E3228108-C0C0-4830-BCA6-1C57ECA3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951F3E53-D130-4EBB-A0C1-E3CC14F7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69540B-25ED-474C-844C-75C551C5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1D5810E6-3E44-4CE3-9AF3-CB63B643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B7642693-24B6-4119-BF13-65983CB9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Сценарий создания Build Step то проходил, то падал в браузерных прогонах. Build Step уже создавался в TeamCity, но тест начинал следующую проверку до завершения перехода на страницу Build Steps. Из-за нерегулярного падения причину пришлось искать в несколько этапов.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E805EF24-7430-4E3D-B8A5-18CA605A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CAFC4364-8A39-4713-82B9-DBB8E2F5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Найти источник нестабильности и сделать сценарий предсказуемым без фиксированных задержек и бесконечного увеличения timeout.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0BE3A1CC-58D0-4032-B23A-578BD7ED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A559C6F5-8F6C-44DD-AC07-D8096D02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446542CE-3986-4B39-8E44-58A63B0A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CC4E572F-35CD-4F60-B3CD-6676C3C1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проанализировала поведение страницы после нажатия Save, уточнила фактический URL перенаправления и добавила ожидание целевой страницы. Только после завершения перехода тест проверяет созданный Build Step.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2904CA40-0B1E-4C1C-8CBA-72B7E795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C55B00CC-AEF1-46C1-A894-DFE03232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Сценарий синхронизирован с реальным состоянием TeamCity. Проверка больше не стартует во время перехода страницы, а UI-regression использует одинаковую логику ожиданий в Chromium, Firefox и WebKit.</a:t>
            </a:r>
          </a:p>
        </p:txBody>
      </p:sp>
    </p:spTree>
    <p:extLst>
      <p:ext uri="{BB962C8B-B14F-4D97-AF65-F5344CB8AC3E}">
        <p14:creationId xmlns:p14="http://schemas.microsoft.com/office/powerpoint/2010/main" val="2087836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E28ED21E-1312-4ADA-8991-9B5A19F4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047486BE-B5D2-41CF-987E-2D5CAC91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2B1C2BBB-6E9C-45FB-BF1F-D8AE4C90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CD2E4D5D-83C1-48DC-80BA-375DDE09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AF37A3BE-AF19-4D61-9CD2-3534029B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F2A1CF2-D4EA-4B4C-BA31-02C70621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64F62092-A154-42D2-B95F-77EA552A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19100"/>
            <a:ext cx="16002000" cy="878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719"/>
              </a:lnSpc>
              <a:buNone/>
              <a:defRPr sz="30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вклад Никиты Снегирева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BB435FAD-6058-4FB4-9975-0C9CBB46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714500" cy="19050"/>
          </a:xfrm>
          <a:custGeom xmlns:a="http://schemas.openxmlformats.org/drawingml/2006/main">
            <a:rect l="l" t="t" r="r" b="b"/>
            <a:pathLst>
              <a:path w="2286000" h="25400">
                <a:moveTo>
                  <a:pt x="0" y="0"/>
                </a:moveTo>
                <a:lnTo>
                  <a:pt x="2286000" y="0"/>
                </a:lnTo>
                <a:lnTo>
                  <a:pt x="2286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D4EACA7B-6D4A-430E-AA84-F9DF9E23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714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CBE6DDDC-6E13-452F-ABC2-2B25BCDC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1381125"/>
            <a:ext cx="16002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Три самостоятельных направления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Каждый кейс представлен по методологии STAR: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Situation → Task → Action → Result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77F8D068-A282-449D-86D1-B1A621EA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9E18011-AA4A-40A6-9DAC-0F9AFB2E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CC39C7B1-B6CB-475C-AB42-54CCD6FD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B7C2356D-3401-4C09-8662-DDE554C9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Формирование тестового плана и scope автоматизации.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3B8E8C8D-4E45-4DA4-A0ED-14A23F80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21E4852-42D2-4441-8954-620AA507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7DD6F5D8-6F34-4B0E-B250-CD39E4B1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0EF0120A-2DCD-4FE2-BBB5-0C5A6182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Разработка API regression для ключевых сущностей TeamCity.</a:t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205F540D-4053-4D61-970E-B3B4524B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3A8D2FB3-1258-4D3E-98D9-79B2CA12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9A657870-2326-42EA-860A-C08FF80D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F9EB2359-9D2C-4264-8A7D-298A4E38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Создание UI-слоя и автоматизация пользовательских сценариев.</a:t>
            </a:r>
          </a:p>
        </p:txBody>
      </p:sp>
    </p:spTree>
    <p:extLst>
      <p:ext uri="{BB962C8B-B14F-4D97-AF65-F5344CB8AC3E}">
        <p14:creationId xmlns:p14="http://schemas.microsoft.com/office/powerpoint/2010/main" val="16820008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78EADB4-D495-4662-8C5E-AA4DBDD3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6CC3AFAC-BA6C-4FC9-8EC8-416F6DB5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4BF1F173-4F7A-4FB4-B162-52FA5BC8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4E0D04B-9575-439D-BEDA-5A45F4CE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6487FE0C-941F-4B93-8106-02F20603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183D066E-801F-4519-983B-7A15F867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C5FBEC1C-27CE-458F-AEC3-EC50E928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1. Тестовый план и scope автоматизации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A048076A-4818-477D-AA62-D21E4239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C30EF301-F551-4001-89CB-C8C3651E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D093C5F1-2727-42DE-95CA-2C3924F8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249D3D13-4E60-4741-A52E-AD230C77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77CD1FCF-C312-468C-80F0-DD6F8B98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9488071D-BE76-4356-B0B8-C528DF8E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Проект начинался с нуля: отсутствовали согласованный набор проверок, приоритеты автоматизации и единое понимание того, какие возможности TeamCity необходимо покрыть через API и UI.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E024CE22-2892-44D7-B2D6-FCCE9AA8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82B9DC37-1E67-4485-87AC-AD2736BF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9A486204-2451-4255-AD35-C2631EBA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EE39B7EF-4454-474C-AEB9-93D7EBEC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Сформировать основу тестового плана, определить границы автоматизации и разложить ключевые функции TeamCity на конкретные проверяемые сценарии.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87EF616F-F3A5-44ED-BE83-CCE7CD6B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0780C48A-86A6-41CB-914F-FB545337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B7DD6BAA-11CF-45CC-9E42-504627F7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43A57240-D554-489C-882E-6CF45F0C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проанализировал основные сущности и пользовательские процессы TeamCity, выделил позитивные, негативные и авторизационные проверки, определил приоритеты и разделил сценарии по уровням API и UI. Результаты зафиксировал в общем тестовом плане команды.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A677ECE8-ACC8-4603-9425-02419428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676C57E2-B901-4A05-B8FF-D23462E2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5AD6854C-C471-4CAE-8862-7A849FE2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CCC2E0CB-B651-4F40-8023-8457E294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Команда получила согласованный scope и основу для последовательной реализации regression. Разработка тестов велась по единой структуре, охватывающей проекты, build configurations, пользователей, access tokens, роли и права доступа.</a:t>
            </a:r>
          </a:p>
        </p:txBody>
      </p:sp>
    </p:spTree>
    <p:extLst>
      <p:ext uri="{BB962C8B-B14F-4D97-AF65-F5344CB8AC3E}">
        <p14:creationId xmlns:p14="http://schemas.microsoft.com/office/powerpoint/2010/main" val="13584837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BF11C211-2FEA-4CF9-864B-03091CDC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711F9211-262A-462A-B76A-CB3F8679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2070B79-1915-4B3E-9332-3CE571C7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D3857E0C-513A-459D-92A8-8F4905F8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A4A61E8A-3FF9-4E0F-B098-90B94F37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F9F4F91-A587-4365-949F-CA240FE7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4F0785E9-99ED-4DE2-B861-E8B753CB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2. API regression ключевых сущностей TeamCity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642E744A-9628-4976-B695-A5395C4C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55F006-2041-428E-8E44-8D7C11D7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4A1DB0FB-3366-4D2A-9C28-CEDF4358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545BBAC7-8B36-461D-9D66-E17CCEB4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68B54B74-D099-44B8-B156-11EF808A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219B6D3B-4F67-41AF-8BB8-3B58C2D2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В проекте существовал базовый каркас API-фреймворка, но не было системного набора проверок жизненного цикла сущностей, негативных сценариев и разграничения прав доступа.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4995D18B-C44C-428B-9CAB-40E3C4C1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53423F4D-3294-4CAD-86B5-6C15D370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18148B24-EB91-4065-8C75-E1115233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349D7CF2-656B-40A1-8C48-3AF412A9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Расширить API-автоматизацию и создать переиспользуемые проверки основных функций TeamCity.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11BDD611-8AEB-485F-B537-2DB48165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32969649-82E6-460B-ACA5-EC7B5AA2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1C19DA4A-6F64-48D5-81DA-99EB5331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D09479A4-6599-40CC-8856-68CBD05F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разработал DTO, fixtures, endpoints и API steps для проектов, build configurations, пользователей, access tokens, ролей и permissions. Реализовал проверки создания, получения, изменения и удаления сущностей, негативные и авторизационные сценарии, генерацию тестовых данных и последующую очистку созданных объектов.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1D9D35BD-F552-4A7B-BF8B-50FD90DF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BB6386D0-AAE6-4D76-8560-7DAAEB18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937A34F6-3F48-4AA9-8B98-E3E7BC78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EEE74E7A-5F10-4F1E-8C94-3AEE3A96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Проект получил полноценный API regression для ключевых сущностей TeamCity. Общие модели, fixtures и steps стали переиспользуемой основой для дальнейшего расширения набора автотестов.</a:t>
            </a:r>
          </a:p>
        </p:txBody>
      </p:sp>
    </p:spTree>
    <p:extLst>
      <p:ext uri="{BB962C8B-B14F-4D97-AF65-F5344CB8AC3E}">
        <p14:creationId xmlns:p14="http://schemas.microsoft.com/office/powerpoint/2010/main" val="193660242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1F14735-F133-4E9C-BEC7-A9BB05DA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96A30B11-3D2D-4319-82D3-F60EF392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FEEEECD-F0A1-4975-949E-D3B100A6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657AFE97-80A3-4B79-876C-FA395C1F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A103CDC5-195B-4B30-9C93-A66843B6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6F2A1F4-E78B-4B71-8D83-9DEBF483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87851C-DB37-40A1-88B7-B52EDE26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3. UI-слой и пользовательские сценарии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FE40A49C-BF7D-4E28-837A-E3E0B536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0933422F-6043-4903-BF14-1136E7D1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0BFA383E-F5D2-4243-A2F4-3C997349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60F7107-3EE3-45B8-8A34-FAFF1FD8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A559A02B-EE36-4DF4-B103-FCC7BD01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DEC06227-46E3-4CE6-BE7B-3C46516F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API-проверки подтверждали работу серверной части, но не проверяли реальные действия пользователя в интерфейсе TeamCity. Отдельного UI-слоя, Page Objects и общего механизма браузерной авторизации не было.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54FB282D-78FC-432D-84CB-5714D022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9B606A6B-7C6E-4082-A178-478D91B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B06A83D2-4F9D-48C4-A46D-FE9D824F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77CE1E17-FBB7-4209-A4D4-1601D98E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Создать масштабируемую основу UI-автоматизации и покрыть ключевые пользовательские сценарии TeamCity.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0CBEE672-15DD-4D64-90E5-AC2A5A11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2F48B924-D0EC-4676-B99C-077A5151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B79A5738-D776-4FDA-8827-706B3761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AEDF67A5-9A2B-444C-BB3C-E7D7D8F7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построил UI-слой на Playwright: разработал BasePage, Page Objects, общие компоненты, маршруты, fixtures и механизм управления пользовательскими сессиями. Автоматизировал вход, создание проектов и пользователей, удаление пользователей, создание access tokens и проверку ограничений для пользователя с ограниченными правами.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9A01E6E3-5535-4205-8D15-214D9143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C16923B3-A07E-4A4C-A667-54AD0847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2C99244F-7E9F-4559-B774-2340B5CB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F108F035-C14B-41FF-8AF2-D4478F8F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В проекте появился переиспользуемый UI-фреймворк, а основные пользовательские операции вошли в общий regression. Новые UI-сценарии можно добавлять через готовые Page Objects, fixtures и механизмы авторизации.</a:t>
            </a:r>
          </a:p>
        </p:txBody>
      </p:sp>
    </p:spTree>
    <p:extLst>
      <p:ext uri="{BB962C8B-B14F-4D97-AF65-F5344CB8AC3E}">
        <p14:creationId xmlns:p14="http://schemas.microsoft.com/office/powerpoint/2010/main" val="120244927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E28ED21E-1312-4ADA-8991-9B5A19F4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047486BE-B5D2-41CF-987E-2D5CAC91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2B1C2BBB-6E9C-45FB-BF1F-D8AE4C90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CD2E4D5D-83C1-48DC-80BA-375DDE09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AF37A3BE-AF19-4D61-9CD2-3534029B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F2A1CF2-D4EA-4B4C-BA31-02C70621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64F62092-A154-42D2-B95F-77EA552A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19100"/>
            <a:ext cx="16002000" cy="878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719"/>
              </a:lnSpc>
              <a:buNone/>
              <a:defRPr sz="30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Конкретные проблемы, решённые Никитой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BB435FAD-6058-4FB4-9975-0C9CBB46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714500" cy="19050"/>
          </a:xfrm>
          <a:custGeom xmlns:a="http://schemas.openxmlformats.org/drawingml/2006/main">
            <a:rect l="l" t="t" r="r" b="b"/>
            <a:pathLst>
              <a:path w="2286000" h="25400">
                <a:moveTo>
                  <a:pt x="0" y="0"/>
                </a:moveTo>
                <a:lnTo>
                  <a:pt x="2286000" y="0"/>
                </a:lnTo>
                <a:lnTo>
                  <a:pt x="2286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D4EACA7B-6D4A-430E-AA84-F9DF9E23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714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CBE6DDDC-6E13-452F-ABC2-2B25BCDC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1381125"/>
            <a:ext cx="16002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Три технических STAR-кейса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Формат каждой истории: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Симптом → задача → исправление → подтверждение результата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77F8D068-A282-449D-86D1-B1A621EA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9E18011-AA4A-40A6-9DAC-0F9AFB2E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CC39C7B1-B6CB-475C-AB42-54CCD6FD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B7C2356D-3401-4C09-8662-DDE554C9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UI-тестам требовалась авторизация под пользователями с разными ролями.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3B8E8C8D-4E45-4DA4-A0ED-14A23F80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21E4852-42D2-4441-8954-620AA507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7DD6F5D8-6F34-4B0E-B250-CD39E4B1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0EF0120A-2DCD-4FE2-BBB5-0C5A6182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Объекты, созданные через UI, могли оставаться после завершения тестов.</a:t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205F540D-4053-4D61-970E-B3B4524B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3A8D2FB3-1258-4D3E-98D9-79B2CA12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9A657870-2326-42EA-860A-C08FF80D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F9EB2359-9D2C-4264-8A7D-298A4E38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Успешное действие в интерфейсе не подтверждало сохранение данных в TeamCity.</a:t>
            </a:r>
          </a:p>
        </p:txBody>
      </p:sp>
    </p:spTree>
    <p:extLst>
      <p:ext uri="{BB962C8B-B14F-4D97-AF65-F5344CB8AC3E}">
        <p14:creationId xmlns:p14="http://schemas.microsoft.com/office/powerpoint/2010/main" val="16820008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F45F79A-63D5-406E-A452-9C801B67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9E8714DB-A908-4819-B1AC-1E07FDB9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BDEAFB8E-E617-4DCE-BC5E-5FABE180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5B502FE8-F86F-4D84-B9CC-29416C49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0869D798-FF45-4BC9-95BC-FA565626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AB807A-FC80-48CF-A020-7856AFED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CC199DB0-1B1A-4CA0-ABBC-2ABC7ABC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1. UI-тестам требовались сессии разных пользователей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05CAF8D1-9021-42B4-8001-99C7DDA8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9E4A9BCE-3908-49B7-8983-57A12DB5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7A9ABBB6-2149-4AD0-9E14-D9F4760F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44D69E0-CFD7-45D6-BE1A-157424D2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6BA7E312-BF1E-4B20-ABD0-BB871F8B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0F1B5A02-54AA-46CF-B6C4-BE3F0D00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Для проверки permissions UI-тесты должны были выполняться как от имени администратора, так и от имени пользователей с ограниченными правами. Повторная авторизация через форму входа усложняла сценарии, дублировала шаги и связывала проверку прав с работой страницы логина.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C0F430F9-2B0F-4108-B5A1-5E0CB051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CBA4DC17-715D-494E-AA1C-B89D4D76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Создать единый механизм авторизации для UI-тестов и обеспечить изоляцию пользовательской сессии в каждом сценарии.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712BA62A-7533-40F8-8428-1BD30252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77055C5E-A091-4411-87BE-4BEC1698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E3E30024-E4A3-404A-B3F5-0125DCBE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5DD7050B-74D8-4A36-9D56-75B330FF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разработал UiAuthClient, который получает TCSESSIONID по credentials пользователя и добавляет cookie в Playwright context. Для выбора сессии добавил markers admin_session и user_session, а временное состояние пользователей изолировал через SessionStorage.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70134CB6-702E-4C39-B8B7-BDA38642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E9246329-8437-49EA-81FE-3B5811FE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UI-тесты могут декларативно запускаться с нужной ролью без повторения шагов входа. Каждый сценарий получает отдельную управляемую сессию, а проверки permissions стали короче и предсказуемее.</a:t>
            </a:r>
          </a:p>
        </p:txBody>
      </p:sp>
    </p:spTree>
    <p:extLst>
      <p:ext uri="{BB962C8B-B14F-4D97-AF65-F5344CB8AC3E}">
        <p14:creationId xmlns:p14="http://schemas.microsoft.com/office/powerpoint/2010/main" val="60497078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D6B4C2B-E7CA-4999-864D-3747EBA8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93EA24E-2827-4445-BB59-0A033538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2AF5AD20-E53E-4135-B3EF-6B551291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6FB11496-57B2-4479-82B1-51B60FA4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97A1B789-BFD9-4417-961F-DD5FF3E4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6EAE5B2-2EB8-4A3D-A014-A8F8227C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AA5C622B-372C-4877-8474-09E09E5E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2. UI-тесты оставляли созданные данные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BDA78913-92F7-4981-99B7-183469C0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F165017E-89CC-4C87-ABE1-10E71DCE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FA849B49-8FAC-4A4E-88B6-8D09BF9C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4A8B62C2-E8F4-41EF-AEA4-2F442F87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B01C1BEB-2444-4812-817E-958FB5FB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48F703E-7FAB-46BB-8C9E-1B88D440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Проекты и пользователи, созданные непосредственно через интерфейс, не проходили через стандартные API-fixtures. Из-за этого механизм очистки мог не знать о них, а оставшиеся данные влияли на повторные и параллельные запуски.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59F003DE-806B-4910-817C-672B3452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6ECA9338-0F71-4BEA-895F-1EC225D7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Подключить сущности, создаваемые через UI, к общей системе регистрации и очистки тестовых данных.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9A45A153-4957-4006-A007-0B90B568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979F3689-1AFE-490F-B620-278F6BDD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8695DADF-212E-4EF6-9B66-55AE0407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55CB60AA-1BFD-4D7A-90A8-A3C7A9BE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добавил marker entity_will_be_created, который регистрирует модель будущей сущности в CreatedObjectsRegistry до выполнения действия в браузере. Также расширил cleanup для проектов, пользователей, access tokens и связанных объектов.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BD647A60-48C0-4BA5-AED0-9DA7BB41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E27D57C2-F345-42F6-B314-9045046C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Объекты, созданные через UI, автоматически удаляются после теста. Повторные запуски начинаются без оставшихся данных, а риск конфликтов между сценариями снизился.</a:t>
            </a:r>
          </a:p>
        </p:txBody>
      </p:sp>
    </p:spTree>
    <p:extLst>
      <p:ext uri="{BB962C8B-B14F-4D97-AF65-F5344CB8AC3E}">
        <p14:creationId xmlns:p14="http://schemas.microsoft.com/office/powerpoint/2010/main" val="43382373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02814D6-A474-4975-A0B8-3079C4DC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EC79672-5B18-4FF8-AADC-B018C5A8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60AC21C0-4158-4CCA-93D4-C09B0576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05B6BA2C-DA08-4E48-B6BD-F14A5A34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39D7AAA5-DFD4-469C-92AA-FB51844F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A447064-B6CB-4274-B94D-5469D4B0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90AF09AD-475D-48E0-8EC9-64B870DD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3. UI-проверка не подтверждала сохранение данных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3B56D82F-7033-4256-9815-1E6A1834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2D80E52-3BBC-40A2-A07D-5A5900B9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0B991689-AF37-477E-858A-4CF10D80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2BC6DBD1-6AC9-47D6-9436-7C1FF9E1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DD943331-2493-49EF-928E-06FC7E55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CB0BDE9F-156E-4CC2-9BDA-A54E9819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Сообщение об успехе или появление элемента на странице не гарантировало, что TeamCity действительно сохранил изменения во внутреннем состоянии. UI-тест мог пройти, даже если данные отображались временно или сохранились некорректно.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E3990667-9BE9-4B92-BC15-4F3480D3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933E5259-37A5-41DC-89B3-F3DD5F4A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Добавить независимую проверку результата ключевых UI-операций.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158A2490-AA0B-4CDE-9A0A-9BB25406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A219252A-F95B-4039-9B84-21B2A555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FD329250-C847-4C6C-8626-73C91CE1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4FD2F02D-3C36-4C15-950D-77870DBB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связал UI-сценарии с ApiManager: после создания проекта или пользователя тест получает сущность через REST API и сравнивает её с исходными данными. Созданный access token проверяется через API, а после удаления пользователя дополнительно подтверждается его отсутствие.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238CF9B5-D9B4-49B4-9497-5AA02DD6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1B4D65AB-6DEA-41FB-A75D-918FCFAE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UI-тесты проверяют не только отображение результата в браузере, но и фактическое состояние TeamCity. Ложноположительные результаты исключены, а место ошибки легче определить по уровню, на котором разошлись данные.</a:t>
            </a:r>
          </a:p>
        </p:txBody>
      </p:sp>
    </p:spTree>
    <p:extLst>
      <p:ext uri="{BB962C8B-B14F-4D97-AF65-F5344CB8AC3E}">
        <p14:creationId xmlns:p14="http://schemas.microsoft.com/office/powerpoint/2010/main" val="115875096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1249A86-3AF8-4182-9409-2C374AFF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720C5CFE-E26C-4D26-9E5B-396D50F9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BEC1CDBD-1315-41A3-8DE8-71DEE59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1C6EF01A-232F-4B44-A2EC-EA54582C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12A23E7F-B73E-406F-A589-2A863C65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18CE4C-9007-4206-AAA2-0A507DD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DE429B59-F8D2-496E-B302-E3A5DE77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19100"/>
            <a:ext cx="16002000" cy="878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719"/>
              </a:lnSpc>
              <a:buNone/>
              <a:defRPr sz="30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вклад Петра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93CCE722-8958-484A-892B-FC279670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714500" cy="19050"/>
          </a:xfrm>
          <a:custGeom xmlns:a="http://schemas.openxmlformats.org/drawingml/2006/main">
            <a:rect l="l" t="t" r="r" b="b"/>
            <a:pathLst>
              <a:path w="2286000" h="25400">
                <a:moveTo>
                  <a:pt x="0" y="0"/>
                </a:moveTo>
                <a:lnTo>
                  <a:pt x="2286000" y="0"/>
                </a:lnTo>
                <a:lnTo>
                  <a:pt x="2286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0E16B595-857F-40C8-9231-32936DE0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714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689AB4E1-7F00-4844-8FEA-33294E8D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1381125"/>
            <a:ext cx="16002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Три самостоятельных направления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Каждый кейс представлен по методологии STAR: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Situation → Task → Action → Result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186B58B4-6A94-4D79-96A7-EF40E6E4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073579C2-7444-4E1F-BB72-97B5FC23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4E8DF0DF-C21D-4FDD-8086-15E0CDB8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62634F98-CEBE-4146-B342-7F8AD54A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Покрытие API-тестами API-домена Build Steps.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14567152-1623-43F2-8136-69CFDFBA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2B28773-E1F8-4DAE-B8C3-3FEA8F1A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66E7E44E-3AAD-4F74-9716-61B1F8DF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CCD1A9BF-051A-4832-80E8-2F7F2F7D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Разработка переиспользуемой генерации тестовых данных для Build Steps.</a:t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255344BF-A67E-413A-A1A0-4DB5C1E6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DBC2FE07-0665-4AA1-B877-39890F7C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75ACAC25-E261-4459-BB0F-33710CF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F47112F3-488F-4D4D-A697-BF862247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Добавление UI-сценария создания Command Line Build Step.</a:t>
            </a:r>
          </a:p>
        </p:txBody>
      </p:sp>
    </p:spTree>
    <p:extLst>
      <p:ext uri="{BB962C8B-B14F-4D97-AF65-F5344CB8AC3E}">
        <p14:creationId xmlns:p14="http://schemas.microsoft.com/office/powerpoint/2010/main" val="156263584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158A79B4-DA28-4B3B-8D89-600FBB1F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A6D56444-CB44-448F-BAAA-41ED7A58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2949BBB5-99EF-4A00-A5B4-286B25D2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8B18C45-EDCD-4BC2-BC1A-F4FE31A8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53A29D7-2563-4476-A0F5-FA501186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32982CE-A39B-4F9C-A5D2-B6F14FD3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A9D96D73-E7FC-4F0B-A082-2E3DE08D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1. Покрытие API-тестами Build Steps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F888F7C3-5137-4544-9DFD-17EF9206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2DADA6C5-7DB2-450F-A98B-FC47D275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9086BE3F-5B49-41FD-BBFC-159C06F1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7908121-4E48-46C9-B4E7-0570DC25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246F54A-D6EE-4508-A1A9-8801B475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C21A1A73-8EF9-4FC0-961C-A9C1C0C7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В проекте уже существовала общая API-архитектура основных сущностей TeamCity, но Build Steps не были системно покрыты. Build Step является вложенной сущностью Build Configuration, содержит свой набор properties и получает идентификатор от TeamCity.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493355BF-8457-47FB-B515-79731C72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DCDEEF92-ECD8-460B-846A-686401BA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77F8181D-6F46-46D6-9712-FDAA8F1C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24DFFF85-CA12-4547-A806-5C491724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Добавить полноценное API-покрытие Build Steps и встроить его в существующую архитектуру проекта без дублирования уже реализованных механизмов.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5B90EC1E-61DD-4947-8852-B4FD01D0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21E153C5-83B6-4430-BEFE-3DE52630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7F72F606-5198-4F00-B296-E8E92FA9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79A54D98-8DA6-4737-A888-97F357C0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разработал request- и response-модели для Build Steps, добавил необходимые endpoints и расширил API steps. Реализовал fixtures и factory для подготовки тестовых данных, а также сценарии создания, получения, изменения и удаления Build Step. Дополнительно добавил проверку нескольких Build Steps внутри одной configuration и негативный сценарий создания Build Step для несуществующей Build Configuration.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B7F64CC2-85C3-48FA-9987-0F12B44D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80484F55-D047-4D33-BDFC-E3A2B098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10286B1C-3AC3-4853-BF54-4304740C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A911868D-CD44-48BB-BA76-F13D7F4A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Build Steps стали полноценной частью общего API regression. Новые сценарии используют существующие механизмы запросов, моделей, fixtures и assertions, поэтому дальнейшее расширение покрытия не требует создания отдельной инфраструктуры.</a:t>
            </a:r>
          </a:p>
        </p:txBody>
      </p:sp>
    </p:spTree>
    <p:extLst>
      <p:ext uri="{BB962C8B-B14F-4D97-AF65-F5344CB8AC3E}">
        <p14:creationId xmlns:p14="http://schemas.microsoft.com/office/powerpoint/2010/main" val="46214092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D6C6ADF-FF24-459B-8225-922E66F5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25598FE8-6EA0-49DB-A708-4F227B49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5361FB1-730A-495A-82DB-43187BA1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78DD8AEA-21DF-4C31-B7FF-A2064109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274AFD70-3D0F-403B-94F8-084E5DAC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BC601AC-5D20-403A-B2EA-43C9B108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5ECC5429-663D-426A-9809-571346FE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2. Генерация тестовых данных для Build Steps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2A6A2BC8-D995-47EB-998B-7938DA88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1B53B5AE-7129-4633-9E59-8B329377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5533B149-5295-4135-AFF0-111F28AA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086D6DF1-7B5A-4564-9D18-3ACD48E5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7913250-859E-47A3-9542-67583E1F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F44F165E-3075-4B7C-9084-587A1B35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CreateBuildStepRequest содержит вложенную структуру BuildStepProperties со списком BuildStepProperty. Обычная случайная генерация Pydantic-модели могла создать технически валидный объект, но не гарантировала, что набор properties будет допустимым для конкретного ранера.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B28DC8A1-22F4-4C2C-B284-17ADF66C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D51053A1-3753-455F-ABE5-1611AAD9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D6D6DA-2051-43CF-831F-D7512FC5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DDFB11B8-513B-44A9-B3F1-98A227C1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Организовать генерацию тестовых данных так, чтобы сохранить общий подход проекта к созданию моделей и одновременно получать валидные данные для позитивных Build Step сценариев.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E23024D8-21B3-48FF-9D71-A4F7ECA2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2D938CD5-3096-4318-8214-871D9911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39523EC9-63A9-4116-83D0-EB1D7499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837B8419-1B19-4298-B766-32185094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изучил существующий механизм GeneratingRule и разделил автоматически генерируемые и доменно-зависимые данные. Простые поля модели продолжают генерироваться автоматически, а Build Step properties формируются из контролируемого набора допустимых значений. Сборку итогового request вынес в переиспользуемый fixture/factory.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4F814D4A-2F65-4AAD-A880-7F6A02F3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91972CE4-2FEC-400F-B972-23486169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630A730B-E471-4E76-8B5B-850E61A9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70AE876C-24E8-432D-AC24-D0189B958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Тесты получили вариативные, но валидные данные. Один механизм подготовки request используется для create, update и сценариев с несколькими Build Steps, а сами тесты не содержат дублирующей логики создания моделей.</a:t>
            </a:r>
          </a:p>
        </p:txBody>
      </p:sp>
    </p:spTree>
    <p:extLst>
      <p:ext uri="{BB962C8B-B14F-4D97-AF65-F5344CB8AC3E}">
        <p14:creationId xmlns:p14="http://schemas.microsoft.com/office/powerpoint/2010/main" val="37499254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4B85846-E259-40B4-B3E8-E03BDD4B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DC856B8A-EDA0-40E6-AE92-6F524916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A8C4D6E9-3AFE-4AA5-B921-9A788B51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62E0E9E1-D33B-4920-8720-B8F72779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99DCBB8F-516C-4895-8C0C-01BBD8AA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DD13092-90A2-4492-8B42-5B5EF847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F23B3F-FF09-4347-9396-69DE51D2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7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7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Личный кейс 3. UI-сценарий создания Command Line Build Step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324EE419-7D10-468D-A66A-522D66A3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929D76B-45AA-4B7A-9F83-3FCB0270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121FE90C-5AE5-4B3E-B7D9-F80B25CA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86B29941-9DE2-44F9-BB1F-0C4F9CEF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DBF3C0E2-E455-40FD-A46E-2F9B3650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419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0E728EA0-7CF4-4B16-881E-B7657E07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885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API-тесты проверяли работу Build Steps на серверном уровне, но пользовательский сценарий создания Command Line Build Step через интерфейс TeamCity оставался непокрытым. Страница создания имела собственную навигацию и служебные параметры TeamCity.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2F790F28-FD38-4BC7-958B-B61E08FB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524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11B4405D-F35C-4C9E-87C7-D8CBB70F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3495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EFFD1D76-B2FB-4D24-BE0F-FE0B6881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514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83025923-67A9-4647-870E-3471C96B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39814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Добавить UI-сценарий создания Build Step и встроить его в существующую Page Object архитектуру.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23532043-E79F-45D8-9B78-97C35C96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6197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4ADE80"/>
          </a:solidFill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E112B67-A8C9-48C0-88D6-6503F0F2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55911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880394E0-FCEC-43F8-B115-FB59636A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6102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E5617496-4703-4D54-A403-4FFEDB2A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6076950"/>
            <a:ext cx="1562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исследовал поведение формы создания Build Step, разработал CreateCommandLineBuildStepPage и вынес построение URL в общий механизм маршрутов TeamCity. Для данных переиспользовал существующую модель CreateBuildStepRequest, чтобы UI- и API-уровни работали с единым представлением Build Step.</a:t>
            </a:r>
          </a:p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BACE230E-0174-4792-A323-F63305E0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715250"/>
            <a:ext cx="38100" cy="1714500"/>
          </a:xfrm>
          <a:custGeom xmlns:a="http://schemas.openxmlformats.org/drawingml/2006/main">
            <a:rect l="l" t="t" r="r" b="b"/>
            <a:pathLst>
              <a:path w="50800" h="2286000">
                <a:moveTo>
                  <a:pt x="0" y="0"/>
                </a:moveTo>
                <a:lnTo>
                  <a:pt x="50800" y="0"/>
                </a:lnTo>
                <a:lnTo>
                  <a:pt x="50800" y="2286000"/>
                </a:lnTo>
                <a:lnTo>
                  <a:pt x="0" y="2286000"/>
                </a:lnTo>
                <a:close/>
              </a:path>
            </a:pathLst>
          </a:custGeom>
          <a:solidFill xmlns:a="http://schemas.openxmlformats.org/drawingml/2006/main">
            <a:srgbClr val="F59E0B"/>
          </a:solidFill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ECAA62A1-463A-483A-9F59-2EEFC450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7686675"/>
            <a:ext cx="38100" cy="1743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62DC0961-BA62-478B-AD21-C432CE5E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7705725"/>
            <a:ext cx="38100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B6303F07-3155-4981-8269-BEC79834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8172450"/>
            <a:ext cx="1562100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В regression появился пользовательский сценарий создания Command Line Build Step. Детали навигации TeamCity изолированы внутри Page Object и routing-слоя, а build-domain модели переиспользуются между API- и UI-проверками.</a:t>
            </a:r>
          </a:p>
        </p:txBody>
      </p:sp>
    </p:spTree>
    <p:extLst>
      <p:ext uri="{BB962C8B-B14F-4D97-AF65-F5344CB8AC3E}">
        <p14:creationId xmlns:p14="http://schemas.microsoft.com/office/powerpoint/2010/main" val="16214340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1249A86-3AF8-4182-9409-2C374AFF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720C5CFE-E26C-4D26-9E5B-396D50F9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BEC1CDBD-1315-41A3-8DE8-71DEE59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1C6EF01A-232F-4B44-A2EC-EA54582C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12A23E7F-B73E-406F-A589-2A863C65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18CE4C-9007-4206-AAA2-0A507DD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DE429B59-F8D2-496E-B302-E3A5DE77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19100"/>
            <a:ext cx="16002000" cy="878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719"/>
              </a:lnSpc>
              <a:buNone/>
              <a:defRPr sz="300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Конкретные проблемы, решённые Петром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93CCE722-8958-484A-892B-FC279670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714500" cy="19050"/>
          </a:xfrm>
          <a:custGeom xmlns:a="http://schemas.openxmlformats.org/drawingml/2006/main">
            <a:rect l="l" t="t" r="r" b="b"/>
            <a:pathLst>
              <a:path w="2286000" h="25400">
                <a:moveTo>
                  <a:pt x="0" y="0"/>
                </a:moveTo>
                <a:lnTo>
                  <a:pt x="2286000" y="0"/>
                </a:lnTo>
                <a:lnTo>
                  <a:pt x="2286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0E16B595-857F-40C8-9231-32936DE0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7145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689AB4E1-7F00-4844-8FEA-33294E8D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1381125"/>
            <a:ext cx="16002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Три технических STAR-кейса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Формат каждой истории:</a:t>
            </a:r>
          </a:p>
          <a:p xmlns:a="http://schemas.openxmlformats.org/drawingml/2006/main">
            <a:pPr algn="l">
              <a:lnSpc>
                <a:spcPts val="3079"/>
              </a:lnSpc>
              <a:buNone/>
              <a:defRPr sz="1800">
                <a:solidFill>
                  <a:srgbClr val="7F91B4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7F91B4"/>
                </a:solidFill>
                <a:latin typeface="Inter"/>
                <a:ea typeface="Inter"/>
                <a:cs typeface="Inter"/>
              </a:rPr>
              <a:t>Симптом → задача → исправление → подтверждение результата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186B58B4-6A94-4D79-96A7-EF40E6E4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073579C2-7444-4E1F-BB72-97B5FC23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4E8DF0DF-C21D-4FDD-8086-15E0CDB8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62634F98-CEBE-4146-B342-7F8AD54A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Server-generated ID Build Step ломал сравнение request и response.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14567152-1623-43F2-8136-69CFDFBA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2B28773-E1F8-4DAE-B8C3-3FEA8F1A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66E7E44E-3AAD-4F74-9716-61B1F8DF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CCD1A9BF-051A-4832-80E8-2F7F2F7D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Общий генератор не гарантировал валидные Build Step properties.</a:t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255344BF-A67E-413A-A1A0-4DB5C1E6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86000"/>
            <a:ext cx="5143500" cy="2857500"/>
          </a:xfrm>
          <a:custGeom xmlns:a="http://schemas.openxmlformats.org/drawingml/2006/main">
            <a:rect l="l" t="t" r="r" b="b"/>
            <a:pathLst>
              <a:path w="6858000" h="3810000">
                <a:moveTo>
                  <a:pt x="381000" y="0"/>
                </a:moveTo>
                <a:lnTo>
                  <a:pt x="6477000" y="0"/>
                </a:lnTo>
                <a:cubicBezTo>
                  <a:pt x="6687420" y="0"/>
                  <a:pt x="6858000" y="170580"/>
                  <a:pt x="6858000" y="381000"/>
                </a:cubicBezTo>
                <a:lnTo>
                  <a:pt x="6858000" y="3429000"/>
                </a:lnTo>
                <a:cubicBezTo>
                  <a:pt x="6858000" y="3639420"/>
                  <a:pt x="6687420" y="3810000"/>
                  <a:pt x="6477000" y="3810000"/>
                </a:cubicBezTo>
                <a:lnTo>
                  <a:pt x="381000" y="3810000"/>
                </a:lnTo>
                <a:cubicBezTo>
                  <a:pt x="170580" y="3810000"/>
                  <a:pt x="0" y="3639420"/>
                  <a:pt x="0" y="3429000"/>
                </a:cubicBezTo>
                <a:lnTo>
                  <a:pt x="0" y="381000"/>
                </a:lnTo>
                <a:cubicBezTo>
                  <a:pt x="0" y="170580"/>
                  <a:pt x="170580" y="0"/>
                  <a:pt x="3810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DBC2FE07-0665-4AA1-B877-39890F7C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0" y="2257425"/>
            <a:ext cx="5143500" cy="2886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75ACAC25-E261-4459-BB0F-33710CF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505075"/>
            <a:ext cx="4610100" cy="284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39"/>
              </a:lnSpc>
              <a:buNone/>
              <a:defRPr sz="22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F47112F3-488F-4D4D-A697-BF862247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58700" y="2952750"/>
            <a:ext cx="4610100" cy="400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UI login test падал из-за некорректно подготовленного локального TeamCity.</a:t>
            </a:r>
          </a:p>
        </p:txBody>
      </p:sp>
    </p:spTree>
    <p:extLst>
      <p:ext uri="{BB962C8B-B14F-4D97-AF65-F5344CB8AC3E}">
        <p14:creationId xmlns:p14="http://schemas.microsoft.com/office/powerpoint/2010/main" val="156263584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642F7F6-9BBA-4EDB-BEF3-19E50EDE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09FEF980-4B9A-4D8B-9650-982414CE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27CA2B01-3613-4343-BA6F-E6C4A3D3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4A4726F1-E874-4100-8BDF-C79E9458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1F5154B-0886-40A2-8C97-BDDEACFD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D1285305-D8E2-4200-862C-D03DE1F8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9B9EAA1-E435-4524-9922-762351C0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1. Server-generated ID ломал сравнение моделей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C8B5A222-395A-4DAC-9A49-409299DD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C32813BF-EF56-4A8C-938B-58E09F0E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66501A6C-52A8-407B-B8B2-430EB09B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E5EDF2B3-F8BA-4E3E-AEF2-7911C0FE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017AB40F-830F-499F-9424-DCC0CDA8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0D2858A0-4A15-4C4C-9C8E-AAC341AA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После создания Build Step TeamCity самостоятельно присваивал ему идентификатор вида RUNNER_*. Этого ID не было в исходном request, поэтому универсальное сравнение request и response считало корректно созданный Build Step различающимся.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ADBEF577-C50A-4C0A-89BC-F99E9C17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D0FBEBD3-F281-4A54-8B51-564F9416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Понять источник расхождения и изменить проверку так, чтобы учитывать контракт TeamCity, не убирая валидацию response.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52CC567B-0C03-4942-9D3E-4EF290A9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0DE61430-F0FB-457C-9E97-A041DDF1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22BE3063-50C0-4B81-819D-2B85D270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E5A2F798-17C9-4CE8-87FA-1F35580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выяснил, что идентификатор Build Step принадлежит серверной стороне и не должен сравниваться с исходным request. Исключил id из общего сравнения моделей, сохранив проверку остальных переданных полей. Наличие корректного ID в response проверяется отдельно.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959BB06B-5C6D-474F-B26E-F752E0A9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EDBF4999-CC96-48A7-85A6-C2DAB4E3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Тест перестал давать ложные падения на корректном поведении TeamCity. Проверка response не была ослаблена: клиентские поля сравниваются с request, а созданные на сервере ID валидируется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74587205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0451FAA6-52E8-400A-B6CC-368D664A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1CBCBC8A-0547-4425-ACD9-13DA5683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A3B3A2B0-6F42-4AD0-A978-C9C0F3DB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74E8081D-CB7C-4FD4-87B4-16A556B7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1813918-1968-4F63-BCFE-69BC114A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4E3DEEE-A165-4D94-A0BA-4D864EFE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E351F94E-310F-40ED-9BFD-4C5EC6CC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1280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325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325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2. Случайная генерация создавала неподходящие Build Step properties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44A6C683-86CD-4000-8911-D1725583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E592DEF0-DCF3-462C-AAC2-34FB3522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4D85BA2D-E79D-43E5-A60E-B4CC8955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58688D6A-97F7-4A99-9F1E-1F1B5B68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9ACDBB42-A20C-459A-9DB1-3CF570CD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FEB0355E-5370-40A0-A19F-387117D4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Общий генератор мог создать корректную с точки зрения Pydantic структуру CreateBuildStepRequest, но случайный набор BuildStepProperty не обязательно являлся допустимой конфигурацией ранера. В результате позитивный тест мог падать из-за невалидных тестовых данных.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C4E2F5DC-DD22-4C40-B262-012A1DDF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38BDA0E4-6DE1-4060-AA0F-0EA9794F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Сохранить автоматическую генерацию моделей, но исключить случайные невалидные комбинации доменно-зависимых properties.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9435BA93-5F85-4982-942C-DAEB7060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97B23D48-5570-42E3-85FF-23A7E014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FB45F2F8-D576-4B7B-A47A-F61E0630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FBDE5C0D-D72B-4472-8306-010EC1BE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отделил универсальную генерацию простых полей от данных, зависящих от TeamCity. Build Step properties стал формировать из заранее определённого пула валидных значений, а создание итоговой модели вынес в общий fixture/factory.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1348EA11-60AE-4C8E-AC35-521C5143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AD562AB5-C1EF-47CB-AB1E-6ED90EC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Позитивные тесты перестали зависеть от случайных невалидных конфигураций. При этом сохранилась вариативность тестовых данных и возможность переиспользовать один механизм генерации в разных Build Step сценариях.</a:t>
            </a:r>
          </a:p>
        </p:txBody>
      </p:sp>
    </p:spTree>
    <p:extLst>
      <p:ext uri="{BB962C8B-B14F-4D97-AF65-F5344CB8AC3E}">
        <p14:creationId xmlns:p14="http://schemas.microsoft.com/office/powerpoint/2010/main" val="49203216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A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2DCD75DB-9C0F-42C7-9CC8-AEDC146D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28575"/>
          </a:xfrm>
          <a:custGeom xmlns:a="http://schemas.openxmlformats.org/drawingml/2006/main">
            <a:rect l="l" t="t" r="r" b="b"/>
            <a:pathLst>
              <a:path w="24384000" h="38100">
                <a:moveTo>
                  <a:pt x="0" y="0"/>
                </a:moveTo>
                <a:lnTo>
                  <a:pt x="24384000" y="0"/>
                </a:lnTo>
                <a:lnTo>
                  <a:pt x="24384000" y="38100"/>
                </a:lnTo>
                <a:lnTo>
                  <a:pt x="0" y="38100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0">
                <a:srgbClr val="00D4FF">
                  <a:alpha val="100000"/>
                </a:srgbClr>
              </a:gs>
              <a:gs pos="100000">
                <a:srgbClr val="7B5CFF">
                  <a:alpha val="100000"/>
                </a:srgbClr>
              </a:gs>
            </a:gsLst>
            <a:lin ang="0"/>
          </a:gradFill>
        </p:spPr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AA31F583-152D-4BAB-9F20-05A8F763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28575"/>
            <a:ext cx="18288000" cy="57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4373A171-2C2C-44C4-909D-E2A19BFB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381000" cy="19050"/>
          </a:xfrm>
          <a:custGeom xmlns:a="http://schemas.openxmlformats.org/drawingml/2006/main"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7A48DF3E-F2BB-44A5-9AD2-53C00C27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381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E37FC7C-BD89-4FFE-B2C5-8EBFCDCB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81000"/>
            <a:ext cx="19050" cy="381000"/>
          </a:xfrm>
          <a:custGeom xmlns:a="http://schemas.openxmlformats.org/drawingml/2006/main">
            <a:rect l="l" t="t" r="r" b="b"/>
            <a:pathLst>
              <a:path w="25400" h="508000">
                <a:moveTo>
                  <a:pt x="0" y="0"/>
                </a:moveTo>
                <a:lnTo>
                  <a:pt x="25400" y="0"/>
                </a:lnTo>
                <a:lnTo>
                  <a:pt x="25400" y="508000"/>
                </a:lnTo>
                <a:lnTo>
                  <a:pt x="0" y="508000"/>
                </a:lnTo>
                <a:close/>
              </a:path>
            </a:pathLst>
          </a:custGeom>
          <a:solidFill xmlns:a="http://schemas.openxmlformats.org/drawingml/2006/main">
            <a:srgbClr val="00D4FF"/>
          </a:solid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230E6A41-3ABF-4674-8B83-F63B82B0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1000" y="352425"/>
            <a:ext cx="190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4417B61F-5486-4997-872C-EF8443D9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66725"/>
            <a:ext cx="16002000" cy="6515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5040"/>
              </a:lnSpc>
              <a:buNone/>
              <a:defRPr sz="2550" b="1">
                <a:solidFill>
                  <a:srgbClr val="F5F8FF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F5F8FF"/>
                </a:solidFill>
                <a:latin typeface="Inter"/>
                <a:ea typeface="Inter"/>
                <a:cs typeface="Inter"/>
              </a:rPr>
              <a:t>Проблема 3. UI login test падал из-за состояния TeamCity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89DCE88F-F868-4B46-A6E1-1130BAA2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38250"/>
            <a:ext cx="1524000" cy="19050"/>
          </a:xfrm>
          <a:custGeom xmlns:a="http://schemas.openxmlformats.org/drawingml/2006/main">
            <a:rect l="l" t="t" r="r" b="b"/>
            <a:pathLst>
              <a:path w="2032000" h="25400">
                <a:moveTo>
                  <a:pt x="0" y="0"/>
                </a:moveTo>
                <a:lnTo>
                  <a:pt x="2032000" y="0"/>
                </a:lnTo>
                <a:lnTo>
                  <a:pt x="2032000" y="25400"/>
                </a:lnTo>
                <a:lnTo>
                  <a:pt x="0" y="25400"/>
                </a:lnTo>
                <a:close/>
              </a:path>
            </a:pathLst>
          </a:custGeom>
          <a:solidFill xmlns:a="http://schemas.openxmlformats.org/drawingml/2006/main">
            <a:srgbClr val="7B5CFF"/>
          </a:solid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899EF1-1F44-442F-941D-5D5253A6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209675"/>
            <a:ext cx="1524000" cy="47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B6B9D46C-E627-4C4D-AE6C-002C688B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8DAFB8EB-C8EB-49CF-B478-818DDB56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7C997F08-0A73-45BC-9D0A-5A18A4BC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D3E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D3EE"/>
                </a:solidFill>
                <a:latin typeface="Inter"/>
                <a:ea typeface="Inter"/>
                <a:cs typeface="Inter"/>
              </a:rPr>
              <a:t>S — Situation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454F257C-B76E-424E-B752-53B48534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После локального запуска TeamCity в Docker тест авторизации через UI стабильно падал. Контейнеры и сервер работали, поэтому первоначально причиной могли быть Playwright, селекторы, credentials или конфигурация тестового окружения.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3919B6F3-7EE3-4777-9C0D-033A7FB4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A855F7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A855F7"/>
                </a:solidFill>
                <a:latin typeface="Inter"/>
                <a:ea typeface="Inter"/>
                <a:cs typeface="Inter"/>
              </a:rPr>
              <a:t>T — Task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706CE04B-17FB-48CD-A601-9D28006B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9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Локализовать источник ошибки и добиться воспроизводимого запуска UI login test без изменения корректной тестовой логики.</a:t>
            </a:r>
          </a:p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146182C0-F07F-4FC8-BA75-2A484637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28750"/>
            <a:ext cx="8001000" cy="8191500"/>
          </a:xfrm>
          <a:custGeom xmlns:a="http://schemas.openxmlformats.org/drawingml/2006/main">
            <a:rect l="l" t="t" r="r" b="b"/>
            <a:pathLst>
              <a:path w="10668000" h="10922000">
                <a:moveTo>
                  <a:pt x="1066800" y="0"/>
                </a:moveTo>
                <a:lnTo>
                  <a:pt x="9601200" y="0"/>
                </a:lnTo>
                <a:cubicBezTo>
                  <a:pt x="10190377" y="0"/>
                  <a:pt x="10668000" y="477623"/>
                  <a:pt x="10668000" y="1066800"/>
                </a:cubicBezTo>
                <a:lnTo>
                  <a:pt x="10668000" y="9855200"/>
                </a:lnTo>
                <a:cubicBezTo>
                  <a:pt x="10668000" y="10444377"/>
                  <a:pt x="10190377" y="10922000"/>
                  <a:pt x="9601200" y="10922000"/>
                </a:cubicBezTo>
                <a:lnTo>
                  <a:pt x="1066800" y="10922000"/>
                </a:lnTo>
                <a:cubicBezTo>
                  <a:pt x="477623" y="10922000"/>
                  <a:pt x="0" y="10444377"/>
                  <a:pt x="0" y="9855200"/>
                </a:cubicBezTo>
                <a:lnTo>
                  <a:pt x="0" y="1066800"/>
                </a:ln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  <a:solidFill xmlns:a="http://schemas.openxmlformats.org/drawingml/2006/main">
            <a:srgbClr val="111827"/>
          </a:solidFill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204B0EA5-C889-4AF5-834C-F86EF8E5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0" y="1400175"/>
            <a:ext cx="8001000" cy="8220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l">
              <a:lnSpc>
                <a:spcPts val="1679"/>
              </a:lnSpc>
              <a:buNone/>
            </a:pP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69CBC0AC-BDDF-47A8-BB69-F93E156D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619250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A — Action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E58DB6B7-148C-4C84-A41B-02018B4E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019300"/>
            <a:ext cx="74295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Я последовательно проверил состояние Docker-окружения и механизм TeamCity Super User, пересоздал стенд и отделил проблему инфраструктуры от UI-теста. В результате выяснил, что для сценария отсутствовал обычный пользователь TeamCity. После создания администратора admin/admin повторно запустил тот же тест.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429B9384-FAFC-4F62-962B-9999C180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4714875"/>
            <a:ext cx="7429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100"/>
              </a:lnSpc>
              <a:buNone/>
              <a:defRPr sz="2100" b="1">
                <a:solidFill>
                  <a:srgbClr val="F5B942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F5B942"/>
                </a:solidFill>
                <a:latin typeface="Inter"/>
                <a:ea typeface="Inter"/>
                <a:cs typeface="Inter"/>
              </a:rPr>
              <a:t>R — Result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08CF7CD3-6267-4D20-AE16-10D86AB1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5114925"/>
            <a:ext cx="7429500" cy="3381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025">
                <a:solidFill>
                  <a:srgbClr val="B9C5DD"/>
                </a:solidFill>
                <a:latin typeface="Inter"/>
                <a:ea typeface="Inter"/>
                <a:cs typeface="Inter"/>
              </a:defRPr>
            </a:pPr>
            <a:r>
              <a:rPr sz="2025">
                <a:solidFill>
                  <a:srgbClr val="B9C5DD"/>
                </a:solidFill>
                <a:latin typeface="Inter"/>
                <a:ea typeface="Inter"/>
                <a:cs typeface="Inter"/>
              </a:rPr>
              <a:t>UI login test начал успешно выполняться без изменения селекторов. Причина была локализована на уровне подготовки окружения, а не ошибочно замаскирована изменениями в UI-автоматизации.</a:t>
            </a:r>
          </a:p>
        </p:txBody>
      </p:sp>
    </p:spTree>
    <p:extLst>
      <p:ext uri="{BB962C8B-B14F-4D97-AF65-F5344CB8AC3E}">
        <p14:creationId xmlns:p14="http://schemas.microsoft.com/office/powerpoint/2010/main" val="102223337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2026-08-07T14:03:31.6700000Z</dcterms:created>
  <dcterms:modified xsi:type="dcterms:W3CDTF">2026-08-07T14:03:31.6700000Z</dcterms:modified>
</coreProperties>
</file>